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594360"/>
            <a:ext cx="11064240" cy="54589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594360"/>
            <a:ext cx="91440" cy="5458968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8229600" cy="39319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35D4BB"/>
                </a:solidFill>
                <a:latin typeface="Lato"/>
              </a:defRPr>
            </a:pPr>
            <a:r>
              <a:t>DATA ANALYST AI  /  STAGE 1 + 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7772400" cy="18653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5400" b="1">
                <a:solidFill>
                  <a:srgbClr val="F1F8FA"/>
                </a:solidFill>
                <a:latin typeface="Lato"/>
              </a:defRPr>
            </a:pPr>
            <a:r>
              <a:t>ATLAS</a:t>
            </a:r>
            <a:br/>
            <a: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24528"/>
            <a:ext cx="996696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A5BBCA"/>
                </a:solidFill>
                <a:latin typeface="Lato"/>
              </a:defRPr>
            </a:pPr>
            <a:r>
              <a:t>Từ dữ liệu lịch sử đến phân khúc &amp; dự đoán bằng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92040"/>
            <a:ext cx="343814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5029200"/>
            <a:ext cx="309067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QUAN SÁT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340096"/>
            <a:ext cx="310896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35D4BB"/>
                </a:solidFill>
                <a:latin typeface="Lato"/>
              </a:defRPr>
            </a:pPr>
            <a:r>
              <a:t>1.704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892040"/>
            <a:ext cx="343814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5029200"/>
            <a:ext cx="309067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91,26% 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5340096"/>
            <a:ext cx="310896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35D4BB"/>
                </a:solidFill>
                <a:latin typeface="Lato"/>
              </a:defRPr>
            </a:pPr>
            <a:r>
              <a:t>7 PCs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892040"/>
            <a:ext cx="343814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5029200"/>
            <a:ext cx="309067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MÔ HÌNH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340096"/>
            <a:ext cx="310896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35D4BB"/>
                </a:solidFill>
                <a:latin typeface="Lat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01 /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Tổng quan dự 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581912"/>
            <a:ext cx="266090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31343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DỮ LIỆU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7"/>
            <a:ext cx="233172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1.704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2340864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142 quốc gia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581912"/>
            <a:ext cx="266090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719072"/>
            <a:ext cx="231343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BẢNG ĐA NGUỒN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029967"/>
            <a:ext cx="233172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3.104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560320"/>
            <a:ext cx="2340864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2 nguồn theo nhà cung cấp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81912"/>
            <a:ext cx="266090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719072"/>
            <a:ext cx="231343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BIỂU ĐỒ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029967"/>
            <a:ext cx="233172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560320"/>
            <a:ext cx="2340864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EDA + ML diagnostics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581912"/>
            <a:ext cx="2496312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719072"/>
            <a:ext cx="214884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HAI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029967"/>
            <a:ext cx="2167128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560320"/>
            <a:ext cx="2176272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SQLite + ChromaDB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91256"/>
            <a:ext cx="5321808" cy="220370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355848"/>
            <a:ext cx="497433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STAGE 1 – DATA 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22191"/>
            <a:ext cx="4974336" cy="1453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Nguồn thực → concat / merge → SQLite + ChromaDB → Imputation + EDA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4" y="3191256"/>
            <a:ext cx="5468112" cy="220370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355848"/>
            <a:ext cx="5120640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STAGE 2 – AI &amp;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22191"/>
            <a:ext cx="5120640" cy="1453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StandardScaler → PCA → K-Means → Regression / Classification → Gradio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" y="5806440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907024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Quy tắc: không nhân đôi cùng quốc gia–năm khi huấn luyện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DATA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Hai nguồn dữ liệu • cùng khóa ISO3 +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508760"/>
            <a:ext cx="5394960" cy="332841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73351"/>
            <a:ext cx="5047488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GAPMINDER / PLOTLY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39696"/>
            <a:ext cx="5047488" cy="2578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1.704 quan sát · 142 quốc gia</a:t>
            </a:r>
            <a:br/>
            <a:r>
              <a:t>1952–2007 · GDP/người, dân số, tuổi thọ</a:t>
            </a:r>
            <a:br/>
            <a:r>
              <a:t>Nguồn huấn luyện mô hình chính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508760"/>
            <a:ext cx="5394960" cy="332841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73351"/>
            <a:ext cx="5047488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WORLD BANK / SP.DYN.LE00.IN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39696"/>
            <a:ext cx="5047488" cy="2578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1.400 quan sát chuẩn hóa · 140 quốc gia</a:t>
            </a:r>
            <a:br/>
            <a:r>
              <a:t>Chỉ tiêu: tuổi thọ lúc sinh</a:t>
            </a:r>
            <a:br/>
            <a:r>
              <a:t>Đối chiếu chất lượng &amp; tích hợp đa nguồn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5312664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13248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Nguồn World Bank không cung cấp GDP và các chỉ số sim_* trong nhánh tích hợp.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Data lineage • các bước xử lý rõ nguồn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20240"/>
            <a:ext cx="2029968" cy="2194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48840"/>
            <a:ext cx="914400" cy="310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35D4BB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52344"/>
            <a:ext cx="1773936" cy="8869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1F8FA"/>
                </a:solidFill>
                <a:latin typeface="Lato"/>
              </a:defRPr>
            </a:pPr>
            <a:r>
              <a:t>GAPMINDER</a:t>
            </a:r>
            <a:br/>
            <a:r>
              <a:t>1.704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606040"/>
            <a:ext cx="274320" cy="32004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35D4BB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1920240"/>
            <a:ext cx="2029968" cy="2194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148840"/>
            <a:ext cx="914400" cy="310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35D4BB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3" y="2752344"/>
            <a:ext cx="1773936" cy="8869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1F8FA"/>
                </a:solidFill>
                <a:latin typeface="Lato"/>
              </a:defRPr>
            </a:pPr>
            <a:r>
              <a:t>WORLD BANK</a:t>
            </a:r>
            <a:br/>
            <a:r>
              <a:t>1.400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606040"/>
            <a:ext cx="274320" cy="32004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35D4BB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2664" y="1920240"/>
            <a:ext cx="2029968" cy="2194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2148840"/>
            <a:ext cx="914400" cy="310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35D4BB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2752344"/>
            <a:ext cx="1773936" cy="8869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1F8FA"/>
                </a:solidFill>
                <a:latin typeface="Lato"/>
              </a:defRPr>
            </a:pPr>
            <a:r>
              <a:t>CONCAT</a:t>
            </a:r>
            <a:br/>
            <a:r>
              <a:t>3.104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606040"/>
            <a:ext cx="274320" cy="32004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35D4BB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1" y="1920240"/>
            <a:ext cx="2029968" cy="2194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8975" y="2148840"/>
            <a:ext cx="914400" cy="310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35D4BB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752344"/>
            <a:ext cx="1773936" cy="8869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1F8FA"/>
                </a:solidFill>
                <a:latin typeface="Lato"/>
              </a:defRPr>
            </a:pPr>
            <a:r>
              <a:t>LEFT JOIN</a:t>
            </a:r>
            <a:br/>
            <a:r>
              <a:t>SIM_*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2606040"/>
            <a:ext cx="274320" cy="32004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35D4BB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920240"/>
            <a:ext cx="2029968" cy="2194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8984" y="2148840"/>
            <a:ext cx="914400" cy="31089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35D4BB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8128" y="2752344"/>
            <a:ext cx="1773936" cy="8869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1F8FA"/>
                </a:solidFill>
                <a:latin typeface="Lato"/>
              </a:defRPr>
            </a:pPr>
            <a:r>
              <a:t>CLEAN</a:t>
            </a:r>
            <a:br/>
            <a:r>
              <a:t>0 MISSING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" y="4882896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4983480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Stage 2 được giữ trên 1.704 quốc gia–năm duy nhất (không dùng trực tiếp 3.104 dòng).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Đối chiếu nguồn cho thấy sai khác đo lường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00200"/>
            <a:ext cx="3602736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37360"/>
            <a:ext cx="3255264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CẶP SO SÁNH HỢP LỆ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048256"/>
            <a:ext cx="3273552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1.394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282696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Theo ISO3 +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602736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737360"/>
            <a:ext cx="3255264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MAE GIỮA HAI NGUỒN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048256"/>
            <a:ext cx="3273552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1,795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578608"/>
            <a:ext cx="3282696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Đơn vị: năm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600200"/>
            <a:ext cx="3602736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1737360"/>
            <a:ext cx="3255264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CHÊNH LỆCH &gt; 5 NĂM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48256"/>
            <a:ext cx="3273552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113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78608"/>
            <a:ext cx="3282696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Cần điều tra riêng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291840"/>
            <a:ext cx="10972800" cy="1993392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456432"/>
            <a:ext cx="10625328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VÍ DỤ KHÁC BIỆT LỚN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922776"/>
            <a:ext cx="10625328" cy="12435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Rwanda 1992: 20,798 năm  ·  Bosnia 1992: 20,211 năm  ·  Cambodia 1977: 19,925 năm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5614416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715000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Không lấy trung bình hai nguồn hoặc suy luận nguồn sai nếu chưa kiểm tra phương pháp.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Missing Values • có nguồn, có chiến lược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645920"/>
            <a:ext cx="3566160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83080"/>
            <a:ext cx="3218688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THIẾU MÔ PHỎNG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" y="2093976"/>
            <a:ext cx="3236976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690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" y="2624328"/>
            <a:ext cx="3246120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Trước khi xử lý đa nguồn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45920"/>
            <a:ext cx="3566160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83080"/>
            <a:ext cx="3218688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TUỔI THỌ WB THIẾU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093976"/>
            <a:ext cx="3236976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624328"/>
            <a:ext cx="3246120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Bù từ Gapminder, có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45920"/>
            <a:ext cx="3383280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035808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SAU LÀM SẠCH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093976"/>
            <a:ext cx="3054096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624328"/>
            <a:ext cx="3063240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Missing remaining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" y="3502152"/>
            <a:ext cx="5047488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NUMERICAL + TIME SERIES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" y="3968496"/>
            <a:ext cx="5047488" cy="126187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Median theo châu lục · ffill/bfill trong từng quốc gia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3756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502152"/>
            <a:ext cx="5001768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CATEGORICAL + PROVENANCE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68496"/>
            <a:ext cx="5001768" cy="126187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Unknown · giữ bản gốc &amp; cột nguồn khi imputation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" y="5742432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843016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3.104 dòng theo nguồn; 1.704 country–year duy nhất; VALIDATION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Data validation trên máy nhóm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545336"/>
            <a:ext cx="10972800" cy="43159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64207"/>
            <a:ext cx="1066190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VALIDATION PASS · 3.104 rows / 0 missing / 0 conflicts</a:t>
            </a:r>
          </a:p>
        </p:txBody>
      </p:sp>
      <p:pic>
        <p:nvPicPr>
          <p:cNvPr id="11" name="Picture 10" descr="image(20261010-14094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50329"/>
            <a:ext cx="10753344" cy="24625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6072" y="5925312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6025896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Ảnh Terminal nhóm cung cấp sau bản RAR; code và CSV nhánh 09–14 cần nộp kèm.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2 mô hình lưu trữ • SQL &amp;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536192"/>
            <a:ext cx="5193792" cy="323697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4846320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846320" cy="2487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Dữ liệu có cấu trúc</a:t>
            </a:r>
            <a:br/>
            <a:r>
              <a:t>master_sparse · master_clean</a:t>
            </a:r>
            <a:br/>
            <a:r>
              <a:t>master_with_clusters</a:t>
            </a:r>
            <a:br/>
            <a:r>
              <a:t>Round-trip đọc/ghi thành công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536192"/>
            <a:ext cx="5559552" cy="323697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700784"/>
            <a:ext cx="5212080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2167128"/>
            <a:ext cx="5212080" cy="2487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PersistentClient / country_year_embeddings</a:t>
            </a:r>
            <a:br/>
            <a:r>
              <a:t>1.704 vectors · 7 dimensions</a:t>
            </a:r>
            <a:br/>
            <a:r>
              <a:t>Truy vấn nearest-neighbor đã chạy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892040"/>
            <a:ext cx="8046720" cy="11155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Stage1_ChromaDB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195" y="5010912"/>
            <a:ext cx="3062568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EDA • dữ liệu số và nhãn phân loại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99616"/>
            <a:ext cx="5504688" cy="348386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5193792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01 / AGE DISTRIBUTION + KDE</a:t>
            </a:r>
          </a:p>
        </p:txBody>
      </p:sp>
      <p:pic>
        <p:nvPicPr>
          <p:cNvPr id="11" name="Picture 10" descr="03_life_expectancy_hist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23715"/>
            <a:ext cx="5285231" cy="2592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27064" y="1499616"/>
            <a:ext cx="5376672" cy="348386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18488"/>
            <a:ext cx="5065776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02 / OBSERVATION COUNTS</a:t>
            </a:r>
          </a:p>
        </p:txBody>
      </p:sp>
      <p:pic>
        <p:nvPicPr>
          <p:cNvPr id="14" name="Picture 13" descr="05_continen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55862"/>
            <a:ext cx="5157216" cy="252798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" y="5422392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522976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Insight: tuổi thọ trung bình lịch sử 59,47 năm; tỷ lệ quan sát giữa các vùng mất cân đối.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MULTIVARIATE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GDP và tuổi thọ • tương quan ≠ nhân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444752"/>
            <a:ext cx="5486400" cy="448970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63624"/>
            <a:ext cx="517550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SPEARMAN HEATMAP</a:t>
            </a:r>
          </a:p>
        </p:txBody>
      </p:sp>
      <p:pic>
        <p:nvPicPr>
          <p:cNvPr id="11" name="Picture 10" descr="06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35" y="1920240"/>
            <a:ext cx="4434225" cy="38953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45352" y="1444752"/>
            <a:ext cx="5330952" cy="448970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5020056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GDP/NGƯỜI VS TUỔI THỌ</a:t>
            </a:r>
          </a:p>
        </p:txBody>
      </p:sp>
      <p:pic>
        <p:nvPicPr>
          <p:cNvPr id="14" name="Picture 13" descr="07_gdp_lifeexp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69856"/>
            <a:ext cx="5111496" cy="27961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" y="6035040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6135624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Spearman rho(GDP/người, tuổi thọ) = 0,8265; phải tách train/test theo quốc gia.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1 /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Insight theo nhóm &amp; theo thời gian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08760"/>
            <a:ext cx="5404104" cy="43159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1"/>
            <a:ext cx="5093208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CLASS MIX BY CONTINENT</a:t>
            </a:r>
          </a:p>
        </p:txBody>
      </p:sp>
      <p:pic>
        <p:nvPicPr>
          <p:cNvPr id="11" name="Picture 10" descr="09_continent_lifeexp_stack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5379"/>
            <a:ext cx="5184648" cy="28193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508760"/>
            <a:ext cx="5394960" cy="43159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1"/>
            <a:ext cx="508406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LONGITUDINAL TREND</a:t>
            </a:r>
          </a:p>
        </p:txBody>
      </p:sp>
      <p:pic>
        <p:nvPicPr>
          <p:cNvPr id="14" name="Picture 13" descr="10_historica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9490"/>
            <a:ext cx="5175504" cy="283112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" y="5952744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6053328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Cỡ mẫu vùng khác nhau, nhãn ≥70 mất cân đối, không diễn giải giai đoạn 1952–2007 như năm hiện tại.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UNSUPERVISED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PCA • giữ 91,26% phương sai với 7 PCs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7406640" cy="4480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00200"/>
            <a:ext cx="709574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CUMULATIVE EXPLAINED VARIANCE</a:t>
            </a:r>
          </a:p>
        </p:txBody>
      </p:sp>
      <p:pic>
        <p:nvPicPr>
          <p:cNvPr id="11" name="Picture 10" descr="11_pca_cumulativ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63" y="1956816"/>
            <a:ext cx="7084873" cy="3886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47888" y="1947672"/>
            <a:ext cx="3291840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2084831"/>
            <a:ext cx="2944368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2962656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7 PCs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3557016"/>
            <a:ext cx="3291840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3694176"/>
            <a:ext cx="2944368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005072"/>
            <a:ext cx="2962656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91,26%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6108192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6208776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Chuẩn hóa trước PCA; chọn số PCs nhỏ nhất đạt ngưỡng 90%.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K-Means • PCA vượt đặc trưng gốc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08760"/>
            <a:ext cx="5577840" cy="452628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1"/>
            <a:ext cx="526694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ELBOW + SILHOUETTE</a:t>
            </a:r>
          </a:p>
        </p:txBody>
      </p:sp>
      <p:pic>
        <p:nvPicPr>
          <p:cNvPr id="11" name="Picture 10" descr="12_kmeans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41361"/>
            <a:ext cx="5358383" cy="20176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45936" y="1508760"/>
            <a:ext cx="5239512" cy="452628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627631"/>
            <a:ext cx="4928616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2 CLUSTERS PROJECTED TO 2D</a:t>
            </a:r>
          </a:p>
        </p:txBody>
      </p:sp>
      <p:pic>
        <p:nvPicPr>
          <p:cNvPr id="14" name="Picture 13" descr="13_kmeans_2d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291213"/>
            <a:ext cx="5020056" cy="331798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" y="6108192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6208776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K=2 · Silhouette PCA 0,288 &gt; Original 0,264; chất lượng phân cụm còn ở mức vừa.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GROUP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Cluster profiling • quan sát, không phán xét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67528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1783080"/>
            <a:ext cx="5020056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CLUSTER 0 · 931 DÒNG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93976"/>
            <a:ext cx="5038344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50,86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24328"/>
            <a:ext cx="5047488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Tuổi thọ trung bình (năm)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45920"/>
            <a:ext cx="5367528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783080"/>
            <a:ext cx="5020056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CLUSTER 1 · 773 DÒNG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093976"/>
            <a:ext cx="5038344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69,85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624328"/>
            <a:ext cx="5047488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Tuổi thọ trung bình (năm)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01568"/>
            <a:ext cx="5367528" cy="193852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" y="3566160"/>
            <a:ext cx="502005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GDP/NGƯỜI TRUNG VỊ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" y="4032504"/>
            <a:ext cx="5020056" cy="11887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Cụm 0: $1.368  ·  Cụm 1: $9.867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401568"/>
            <a:ext cx="5367528" cy="193852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566160"/>
            <a:ext cx="502005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TỶ LỆ TUỔI THỌ ≥70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032504"/>
            <a:ext cx="5020056" cy="11887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Cụm 0: 2,4%  ·  Cụm 1: 61,1%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" y="5715000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815584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Không gọi các cụm là quốc gia “tốt/xấu” và không suy luận chính sách từ sim_health_index.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Regression benchmark • LinearRegression thắng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508760"/>
            <a:ext cx="6400800" cy="453542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27631"/>
            <a:ext cx="608990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ACTUAL VS PREDICTED</a:t>
            </a:r>
          </a:p>
        </p:txBody>
      </p:sp>
      <p:pic>
        <p:nvPicPr>
          <p:cNvPr id="11" name="Picture 10" descr="14_regression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77" y="1984248"/>
            <a:ext cx="5784340" cy="39410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32904" y="1700784"/>
            <a:ext cx="4315968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837944"/>
            <a:ext cx="3968496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LINEAR ·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2148840"/>
            <a:ext cx="3986783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6,169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2679192"/>
            <a:ext cx="3995928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3264408"/>
            <a:ext cx="4315968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401568"/>
            <a:ext cx="3968496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LINEAR ·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3712463"/>
            <a:ext cx="3986783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0,778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4242816"/>
            <a:ext cx="3995928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Tree RMSE = 6,730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6089904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6190488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Test được tách theo 29 quốc gia chưa thấy; RMSE 6,17 năm vẫn là sai số thực tế đáng kể.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Classification • LogisticRegression thắng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715000" cy="456285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27631"/>
            <a:ext cx="540410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CONFUSION MATRIX</a:t>
            </a:r>
          </a:p>
        </p:txBody>
      </p:sp>
      <p:pic>
        <p:nvPicPr>
          <p:cNvPr id="11" name="Picture 10" descr="1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67" y="1984248"/>
            <a:ext cx="5021624" cy="39684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74536" y="1618488"/>
            <a:ext cx="490118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755648"/>
            <a:ext cx="455371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066543"/>
            <a:ext cx="457200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87,07%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2596896"/>
            <a:ext cx="4581144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vs Tree 85,06%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4536" y="3209544"/>
            <a:ext cx="4901184" cy="134416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3346703"/>
            <a:ext cx="4553712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5BBCA"/>
                </a:solidFill>
                <a:latin typeface="Lato"/>
              </a:defRPr>
            </a:pPr>
            <a:r>
              <a:t>F1 MACRO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3657600"/>
            <a:ext cx="4572000" cy="4846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35D4BB"/>
                </a:solidFill>
                <a:latin typeface="Lato"/>
              </a:defRPr>
            </a:pPr>
            <a:r>
              <a:t>0,845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187952"/>
            <a:ext cx="4581144" cy="21945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A5BBCA"/>
                </a:solidFill>
                <a:latin typeface="Lato"/>
              </a:defRPr>
            </a:pPr>
            <a:r>
              <a:t>vs Tree 0,820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6117336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6217920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class_weight="balanced" khi nhãn mất cân bằng; F1 macro được dùng chọn mô hình.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Giao diện Gradio • nhập liệu và dự đoán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1444752"/>
            <a:ext cx="10899648" cy="453542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563624"/>
            <a:ext cx="10588752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SCREENSHOT THỰC TẾ · PREDICTION TAB</a:t>
            </a:r>
          </a:p>
        </p:txBody>
      </p:sp>
      <p:pic>
        <p:nvPicPr>
          <p:cNvPr id="11" name="Picture 10" descr="01_UI_Du_doan_As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772" y="1920240"/>
            <a:ext cx="8306550" cy="39410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6072" y="6089904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6190488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Demo: Asia năm 2002 → 67,0 năm · P(class ≥70)=79,6% · K-Means cluster 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Visualization tab • trực quan hóa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463040"/>
            <a:ext cx="10826496" cy="453542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581912"/>
            <a:ext cx="10515600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SCATTER / TREND / PCA / K-MEANS</a:t>
            </a:r>
          </a:p>
        </p:txBody>
      </p:sp>
      <p:pic>
        <p:nvPicPr>
          <p:cNvPr id="11" name="Picture 10" descr="02_UI_Truc_quan_h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91" y="1938528"/>
            <a:ext cx="8273624" cy="39410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6072" y="6117336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6217920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Bằng chứng UI chạy thành công; biểu đồ Elbow/Silhouette đầy đủ trong charts và Notebook.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STAGE 2 /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Evaluation + Data source tabs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17904"/>
            <a:ext cx="5486400" cy="445312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36776"/>
            <a:ext cx="517550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BENCHMARKS</a:t>
            </a:r>
          </a:p>
        </p:txBody>
      </p:sp>
      <p:pic>
        <p:nvPicPr>
          <p:cNvPr id="11" name="Picture 10" descr="03_UI_Ket_qua_danh_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62927"/>
            <a:ext cx="5266944" cy="25196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3640" y="1517904"/>
            <a:ext cx="5303520" cy="4453128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36776"/>
            <a:ext cx="4992624" cy="2743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35D4BB"/>
                </a:solidFill>
                <a:latin typeface="Lato"/>
              </a:defRPr>
            </a:pPr>
            <a:r>
              <a:t>SOURCE + LIMITATIONS</a:t>
            </a:r>
          </a:p>
        </p:txBody>
      </p:sp>
      <p:pic>
        <p:nvPicPr>
          <p:cNvPr id="14" name="Picture 13" descr="04_UI_Nguon_du_l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705803"/>
            <a:ext cx="5084064" cy="243394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" y="6126480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6227064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Chụp màn hình từ môi trường Windows/Gradio của nhóm, không phải mockup thiết kế.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3 khuyến nghị • hành động từ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630168" cy="3337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1947672"/>
            <a:ext cx="328269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01  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24328"/>
            <a:ext cx="3273552" cy="7132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1F8FA"/>
                </a:solidFill>
                <a:latin typeface="Lato"/>
              </a:defRPr>
            </a:pPr>
            <a:r>
              <a:t>Phân tích theo GDP và nhóm châu lục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40480"/>
            <a:ext cx="3291840" cy="8412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A5BBCA"/>
                </a:solidFill>
                <a:latin typeface="Lato"/>
              </a:defRPr>
            </a:pPr>
            <a:r>
              <a:t>Tương quan rho=0,8265, nhưng không khẳng định nhân quả.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783080"/>
            <a:ext cx="3630168" cy="3337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328269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02 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24328"/>
            <a:ext cx="3273552" cy="7132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1F8FA"/>
                </a:solidFill>
                <a:latin typeface="Lato"/>
              </a:defRPr>
            </a:pPr>
            <a:r>
              <a:t>Dùng K-Means để khám phá hồ sơ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840480"/>
            <a:ext cx="3291840" cy="8412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A5BBCA"/>
                </a:solidFill>
                <a:latin typeface="Lato"/>
              </a:defRPr>
            </a:pPr>
            <a:r>
              <a:t>2 cụm rõ khác biệt, silhouette chỉ 0,288.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3" y="1783080"/>
            <a:ext cx="3630168" cy="3337560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199" y="1947672"/>
            <a:ext cx="328269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03 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624328"/>
            <a:ext cx="3273552" cy="71323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1F8FA"/>
                </a:solidFill>
                <a:latin typeface="Lato"/>
              </a:defRPr>
            </a:pPr>
            <a:r>
              <a:t>Giám sát sai số và nhãn phân loại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3" y="3840480"/>
            <a:ext cx="3291840" cy="8412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A5BBCA"/>
                </a:solidFill>
                <a:latin typeface="Lato"/>
              </a:defRPr>
            </a:pPr>
            <a:r>
              <a:t>RMSE 6,169 năm; tránh dùng để ra quyết định cá nhân.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5669280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769864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Sử dụng như dashboard học thuật và công cụ khám phá lịch sử, không làm dự báo chính thức.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65176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35D4BB"/>
                </a:solidFill>
                <a:latin typeface="Lato"/>
              </a:defRPr>
            </a:pPr>
            <a:r>
              <a:t>RESEARCH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30936"/>
            <a:ext cx="11247120" cy="50292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F1F8FA"/>
                </a:solidFill>
                <a:latin typeface="Lato"/>
              </a:defRPr>
            </a:pPr>
            <a:r>
              <a:t>Giới hạn và việc cần nộp đúng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1091672" cy="13716"/>
          </a:xfrm>
          <a:prstGeom prst="rect">
            <a:avLst/>
          </a:prstGeom>
          <a:solidFill>
            <a:srgbClr val="28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5276088" cy="410565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719072"/>
            <a:ext cx="4928616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GIỚI HẠN PHƯƠNG PHÁP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185415"/>
            <a:ext cx="4928616" cy="33558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• Lịch sử 1952–2007</a:t>
            </a:r>
            <a:br/>
            <a:r>
              <a:t>• sim_* hoàn toàn mô phỏng</a:t>
            </a:r>
            <a:br/>
            <a:r>
              <a:t>• 3.104 quan sát theo nguồn bị lặp country–year</a:t>
            </a:r>
            <a:br/>
            <a:r>
              <a:t>• WB chỉ cung cấp tuổi thọ trong bảng nối</a:t>
            </a:r>
            <a:br/>
            <a:r>
              <a:t>• 6 giá trị được bù từ Gapminder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554480"/>
            <a:ext cx="5422392" cy="4105656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19072"/>
            <a:ext cx="5074920" cy="329184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35D4BB"/>
                </a:solidFill>
                <a:latin typeface="Lato"/>
              </a:defRPr>
            </a:pPr>
            <a:r>
              <a:t>NỘP KÈM BẮT BUỘC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185415"/>
            <a:ext cx="5074920" cy="33558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F1F8FA"/>
                </a:solidFill>
                <a:latin typeface="Lato"/>
              </a:defRPr>
            </a:pPr>
            <a:r>
              <a:t>• Mã src/09–14 và JSON World Bank</a:t>
            </a:r>
            <a:br/>
            <a:r>
              <a:t>• CSV multisource, audit &amp; screenshots</a:t>
            </a:r>
            <a:br/>
            <a:r>
              <a:t>• SQLite, ChromaDB status + model artifacts</a:t>
            </a:r>
            <a:br/>
            <a:r>
              <a:t>• Word/PPT phiên bản mới</a:t>
            </a:r>
            <a:br/>
            <a:r>
              <a:t>• Không tuyên bố bonus chưa chạy là hoàn thành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5888736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5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989320"/>
            <a:ext cx="10634472" cy="29260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1F8FA"/>
                </a:solidFill>
                <a:latin typeface="Lato"/>
              </a:defRPr>
            </a:pPr>
            <a:r>
              <a:t>Mô hình Stage 2 chưa được huấn luyện lại từ bảng đa nguồn; báo cáo ghi rõ.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D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6510528"/>
            <a:ext cx="3657600" cy="1554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A5BBCA"/>
                </a:solidFill>
                <a:latin typeface="Lato"/>
              </a:defRPr>
            </a:pPr>
            <a:r>
              <a:t>ATLAS INSIGHT  /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93192" cy="20116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35D4BB"/>
                </a:solidFill>
                <a:latin typeface="Lato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576072"/>
            <a:ext cx="10945368" cy="5404104"/>
          </a:xfrm>
          <a:prstGeom prst="roundRect">
            <a:avLst>
              <a:gd name="adj" fmla="val 12000"/>
            </a:avLst>
          </a:prstGeom>
          <a:solidFill>
            <a:srgbClr val="10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024128"/>
            <a:ext cx="9144000" cy="36576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35D4BB"/>
                </a:solidFill>
                <a:latin typeface="Lato"/>
              </a:defRPr>
            </a:pPr>
            <a:r>
              <a:t>THANK YOU /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47088"/>
            <a:ext cx="9418320" cy="914400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4600" b="1">
                <a:solidFill>
                  <a:srgbClr val="F1F8FA"/>
                </a:solidFill>
                <a:latin typeface="Lato"/>
              </a:defRPr>
            </a:pPr>
            <a:r>
              <a:t>ATLAS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3172968"/>
            <a:ext cx="9601200" cy="576072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A5BBCA"/>
                </a:solidFill>
                <a:latin typeface="Lato"/>
              </a:defRPr>
            </a:pPr>
            <a:r>
              <a:t>Dữ liệu minh bạch  •  Mô hình có kiểm chứng  •  AI có giới hạn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25112"/>
            <a:ext cx="9144000" cy="3840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35D4BB"/>
                </a:solidFill>
                <a:latin typeface="Lato"/>
              </a:defRPr>
            </a:pPr>
            <a:r>
              <a:t>Stage 1: nguồn · concat/merge · storage ·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73168"/>
            <a:ext cx="9144000" cy="384048"/>
          </a:xfrm>
          <a:prstGeom prst="rect">
            <a:avLst/>
          </a:prstGeom>
          <a:noFill/>
        </p:spPr>
        <p:txBody>
          <a:bodyPr wrap="square" lIns="54864" rIns="54864" tIns="9144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35D4BB"/>
                </a:solidFill>
                <a:latin typeface="Lato"/>
              </a:defRPr>
            </a:pPr>
            <a:r>
              <a:t>Stage 2: PCA · K-Means · Regression · Classification ·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