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41832"/>
            <a:ext cx="155448" cy="3886200"/>
          </a:xfrm>
          <a:prstGeom prst="rect">
            <a:avLst/>
          </a:prstGeom>
          <a:solidFill>
            <a:srgbClr val="EE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144000" cy="3200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3EADA"/>
                </a:solidFill>
                <a:latin typeface="Aptos"/>
              </a:defRPr>
            </a:pPr>
            <a:r>
              <a:t>FINAL GROUP PROJECT · STAGE 1 +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828800"/>
            <a:ext cx="10058400" cy="114300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5300" b="1">
                <a:solidFill>
                  <a:srgbClr val="FFFFFF"/>
                </a:solidFill>
                <a:latin typeface="Aptos"/>
              </a:defRPr>
            </a:pPr>
            <a:r>
              <a:t>ATLAS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9692640" cy="91440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AI PHÂN TÍCH &amp; DỰ ĐOÁN CHỈ SỐ PHÁT TRIỂN QUỐC 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10058400" cy="5486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9D7D3"/>
                </a:solidFill>
                <a:latin typeface="Aptos"/>
              </a:defRPr>
            </a:pPr>
            <a:r>
              <a:t>Data Analyst AI  •  [Tên nhóm / MSSV]  •  12.10.2026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Rubric đã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972800" cy="3200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16672"/>
                </a:solidFill>
                <a:latin typeface="Aptos"/>
              </a:defRPr>
            </a:pPr>
            <a:r>
              <a:t>Bám sát 3 tài liệu yêu cầu được giao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GĐ1 –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1.704 dòng THỰC; concat 2 feed địa lý; merge dữ liệu giả lập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69464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706624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651760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GĐ1 –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2642616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SQLite đã hoạt động; ChromaDB có script, cần chạy tại máy nhóm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93008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630168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75304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GĐ1 –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3566160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375 thiếu mô phỏng → 0; 10 biểu đồ + phân tích So What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16552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553712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498848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GĐ2 –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4489704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PCA + K-Means; 2 hồi quy; 2 phân loại; 16 đồ thị tổng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340096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5477256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422392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GĐ2 –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5413248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Gradio web app; cần chụp giao diện browser khi nộp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Bài toán &amp;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Dự đoán life_expectancy (năm) theo hồ sơ quốc gia-năm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9464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06624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51760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42616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Nhãn ≥70 năm: target_high_life_expectancy (0/1)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93008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30168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4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566160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K-Means nhóm quan sát quốc gia-năm (không phải khách hàng)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16552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53712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98848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Nguồn Gapminder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4489704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142 quốc gia × 12 mốc 1952–2007 = 1.704 quan sát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40096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477256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422392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Hạn chế nguồn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5413248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Hai feed địa lý từ một bộ dữ liệu, chưa phải 2 nhà phát hành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Kiến trúc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Static feeds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Gapminder → Africa/Asia (1.020) + các vùng còn lại (684)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9464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06624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51760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Dynamic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42616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Sinh sim_health / sim_education / sim_trend / policy, seed cố định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93008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30168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4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566160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Align columns → pd.concat → record_id → left pd.merge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16552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53712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98848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Storage +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4489704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SQLite round trip → imputation → charts/insights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40096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477256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422392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ML + Web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5413248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StandardScaler/OneHot → PCA/KMeans + Supervised → Gradio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Chất lượng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0972800" cy="3200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16672"/>
                </a:solidFill>
                <a:latin typeface="Aptos"/>
              </a:defRPr>
            </a:pPr>
            <a:r>
              <a:t>Data cleaning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8" name="Picture 7" descr="01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319771"/>
            <a:ext cx="7562088" cy="32974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375 giá trị thiếu chỉ nằm ở các trường mô phỏng. Dùng median theo châu lục, ffill/bfill theo country và “Unknown”; còn 0 thiếu.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Tuổi thọ: phân bố thực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03_life_expectancy_hist_k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06090"/>
            <a:ext cx="7562088" cy="37248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Tuổi thọ TB=59.47 năm. Phân phối đa dạng theo thời gian và châu lục → cần year và continent khi huấn luyện.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Tương quan các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7" name="Picture 6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811" y="1664208"/>
            <a:ext cx="5255457" cy="460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Spearman GDP/người – tuổi thọ = 0.827. Quan hệ có ý nghĩa mô tả, KHÔNG chứng minh nhân quả.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Tuổi thọ &amp; GDP/người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7" name="Picture 6" descr="07_gdp_lifeex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03654"/>
            <a:ext cx="7562088" cy="41296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Có xu hướng đồng biến không tuyến tính; dùng log1p(GDP) và so sánh tuyến tính với cây quyết định.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Khác biệt giữa châu lục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08_continent_lifeexp_grouped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92408"/>
            <a:ext cx="7562088" cy="41521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Africa ≈48,86 năm; Europe ≈71,90 năm. Oceania chỉ 24 quan sát → cẩn trọng với cỡ mẫu nhỏ.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PCA: giữ phương sai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11_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94515"/>
            <a:ext cx="7562088" cy="41479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7 PCs giữ 91.26% phương sai; mục tiêu 90% nằm trong ngưỡng 85–95%.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Chọn K và so sánh không gian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12_kmeans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544748"/>
            <a:ext cx="7562088" cy="28474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K=2; PCA silhouette=0.288, không PCA=0.264. Phân cụm ở mức vừa.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Phân cụm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13_kmeans_2d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5" y="1664208"/>
            <a:ext cx="6972688" cy="460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Cụm 0: 931 quan sát, tuổi thọ TB 50,86. Cụm 1: 773 quan sát, tuổi thọ TB 69,85. Nhãn cụm được merge ngược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Regression: Actual vs Predicted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14_regression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2" y="1664208"/>
            <a:ext cx="6764054" cy="460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LinearRegression thắng: RMSE=6.17 năm, R²=0.778; tree RMSE=6.73.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Classification: 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7" name="Picture 6" descr="1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58" y="1664208"/>
            <a:ext cx="5831563" cy="4608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709928"/>
            <a:ext cx="3456432" cy="4434840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901952"/>
            <a:ext cx="2880360" cy="2743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97F85"/>
                </a:solidFill>
                <a:latin typeface="Aptos"/>
              </a:defRPr>
            </a:pPr>
            <a:r>
              <a:t>SO WHAT?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77440"/>
            <a:ext cx="2834640" cy="329184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92E3A"/>
                </a:solidFill>
                <a:latin typeface="Aptos"/>
              </a:defRPr>
            </a:pPr>
            <a:r>
              <a:t>LogisticRegression thắng: F1 macro=0.845, Accuracy=0.871. 222 TN · 30 FP · 15 FN · 81 TP.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Web UI — Gradio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continent; year; population; GDP/người; 4 biến sim_*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9464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06624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51760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Dự đoán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42616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Tuổi thọ (hồi quy), xác suất và nhãn (phân loại), Cluster_Label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93008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30168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4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Trực quan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566160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Scatter GDP/tuổi thọ, trend, PCA/K-Means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16552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53712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98848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4489704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RMSE/MSE/R²; F1/Precision/Recall; confusion matrix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40096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477256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422392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Minh chứng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5413248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Code và HTTP 200 đã kiểm tra; screenshot browser cần chụp tại máy nhóm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3 khuyến nghị dựa trên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905256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Ưu tiên kiểm định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Cụm GDP thấp có tuổi thọ lịch sử thấp hơn; tìm nguồn độc lập trước quyết định thực tế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85160"/>
            <a:ext cx="10972800" cy="905256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2232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6745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Giữ baseline tuyến tính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325831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RMSE 6,17 &lt; 6,73; đánh giá sai số theo vùng, thời gian và bổ sung biến THỰC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724400"/>
            <a:ext cx="10972800" cy="905256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486156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669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Trình bày xác suất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479755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F1 macro 0,845; lớp mất cân bằng nên tránh chỉ báo cáo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19456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97F85"/>
                </a:solidFill>
                <a:latin typeface="Aptos"/>
              </a:defRPr>
            </a:pPr>
            <a:r>
              <a:t>DATA ANALYST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5029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92E3A"/>
                </a:solidFill>
                <a:latin typeface="Aptos"/>
              </a:defRPr>
            </a:pPr>
            <a:r>
              <a:t>Giới hạn &amp; công việc cần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0972"/>
          </a:xfrm>
          <a:prstGeom prst="rect">
            <a:avLst/>
          </a:prstGeom>
          <a:solidFill>
            <a:srgbClr val="D2E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6537960"/>
            <a:ext cx="822960" cy="164592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1667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28216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Nguồn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719072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Hai feed không độc lập nhà phát hành; bổ sung nguồn thứ 2 nếu giảng viên yêu cầu chặt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69464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706624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51760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Vector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642616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Chạy ChromaDB trên máy có thể cài dependencies; kiểm chứng số bản ghi 1.704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93008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630168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75304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566160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Chạy Gradio trên trình duyệt máy nhóm; chụp ảnh màn hình thật và chèn báo cáo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16552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553712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98848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Extra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4489704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Web crawl/LLM code được cung cấp nhưng chưa chạy vì hạn chế mạng/mô hình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40096"/>
            <a:ext cx="10972800" cy="896112"/>
          </a:xfrm>
          <a:prstGeom prst="roundRect">
            <a:avLst/>
          </a:prstGeom>
          <a:solidFill>
            <a:srgbClr val="ED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5477256"/>
            <a:ext cx="109728" cy="475488"/>
          </a:xfrm>
          <a:prstGeom prst="rect">
            <a:avLst/>
          </a:prstGeom>
          <a:solidFill>
            <a:srgbClr val="097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422392"/>
            <a:ext cx="3200400" cy="420624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97F85"/>
                </a:solidFill>
                <a:latin typeface="Aptos"/>
              </a:defRPr>
            </a:pPr>
            <a:r>
              <a:t>Giới hạn khoa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5413248"/>
            <a:ext cx="7132320" cy="64008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92E3A"/>
                </a:solidFill>
                <a:latin typeface="Aptos"/>
              </a:defRPr>
            </a:pPr>
            <a:r>
              <a:t>Dữ liệu 1952–2007; sim_* giả lập; không dùng làm dự báo năm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ctr">
              <a:spcAft>
                <a:spcPts val="8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CẢM ƠN THẦY/CÔ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8503920" cy="73152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A2EADF"/>
                </a:solidFill>
                <a:latin typeface="Aptos"/>
              </a:defRPr>
            </a:pPr>
            <a:r>
              <a:t>Q&amp;A · Data Analyst AI · ATLAS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 lIns="12700" tIns="38100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Liên kết code, báo cáo, chart và bộ dữ liệu: xem thư mục ZIP nộp nhóm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