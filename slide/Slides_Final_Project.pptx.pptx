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Lato Bold" charset="1" panose="020F0502020204030203"/>
      <p:regular r:id="rId29"/>
    </p:embeddedFont>
    <p:embeddedFont>
      <p:font typeface="Lato" charset="1" panose="020F0502020204030203"/>
      <p:regular r:id="rId30"/>
    </p:embeddedFont>
    <p:embeddedFont>
      <p:font typeface="Noto Sans Bold" charset="1" panose="020B0802040504020204"/>
      <p:regular r:id="rId31"/>
    </p:embeddedFont>
    <p:embeddedFont>
      <p:font typeface="Noto Sans" charset="1" panose="020B0502040504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svg" Type="http://schemas.openxmlformats.org/officeDocument/2006/relationships/image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sv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62.png" Type="http://schemas.openxmlformats.org/officeDocument/2006/relationships/image"/><Relationship Id="rId5" Target="../media/image6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svg" Type="http://schemas.openxmlformats.org/officeDocument/2006/relationships/image"/><Relationship Id="rId4" Target="../media/image6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68.sv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Relationship Id="rId7" Target="../media/image72.svg" Type="http://schemas.openxmlformats.org/officeDocument/2006/relationships/image"/><Relationship Id="rId8" Target="../media/image73.png" Type="http://schemas.openxmlformats.org/officeDocument/2006/relationships/image"/><Relationship Id="rId9" Target="../media/image7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5.png" Type="http://schemas.openxmlformats.org/officeDocument/2006/relationships/image"/><Relationship Id="rId3" Target="../media/image76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Relationship Id="rId3" Target="../media/image78.svg" Type="http://schemas.openxmlformats.org/officeDocument/2006/relationships/image"/><Relationship Id="rId4" Target="../media/image79.png" Type="http://schemas.openxmlformats.org/officeDocument/2006/relationships/image"/><Relationship Id="rId5" Target="../media/image80.png" Type="http://schemas.openxmlformats.org/officeDocument/2006/relationships/image"/><Relationship Id="rId6" Target="../media/image81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2.png" Type="http://schemas.openxmlformats.org/officeDocument/2006/relationships/image"/><Relationship Id="rId3" Target="../media/image83.svg" Type="http://schemas.openxmlformats.org/officeDocument/2006/relationships/image"/><Relationship Id="rId4" Target="../media/image84.png" Type="http://schemas.openxmlformats.org/officeDocument/2006/relationships/image"/><Relationship Id="rId5" Target="../media/image85.svg" Type="http://schemas.openxmlformats.org/officeDocument/2006/relationships/image"/><Relationship Id="rId6" Target="../media/image8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7.png" Type="http://schemas.openxmlformats.org/officeDocument/2006/relationships/image"/><Relationship Id="rId3" Target="../media/image88.svg" Type="http://schemas.openxmlformats.org/officeDocument/2006/relationships/image"/><Relationship Id="rId4" Target="../media/image8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4.png" Type="http://schemas.openxmlformats.org/officeDocument/2006/relationships/image"/><Relationship Id="rId3" Target="../media/image85.svg" Type="http://schemas.openxmlformats.org/officeDocument/2006/relationships/image"/><Relationship Id="rId4" Target="../media/image9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537B8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37265" cy="10295039"/>
            <a:chOff x="0" y="0"/>
            <a:chExt cx="183020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00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B4A4F"/>
            </a:solidFill>
          </p:spPr>
        </p:sp>
      </p:grpSp>
      <p:grpSp>
        <p:nvGrpSpPr>
          <p:cNvPr name="Group 6" id="6"/>
          <p:cNvGrpSpPr/>
          <p:nvPr/>
        </p:nvGrpSpPr>
        <p:grpSpPr>
          <a:xfrm rot="-7656976">
            <a:off x="8990704" y="-4497118"/>
            <a:ext cx="1530666" cy="19688469"/>
            <a:chOff x="0" y="0"/>
            <a:chExt cx="403138" cy="5185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3138" cy="5185440"/>
            </a:xfrm>
            <a:custGeom>
              <a:avLst/>
              <a:gdLst/>
              <a:ahLst/>
              <a:cxnLst/>
              <a:rect r="r" b="b" t="t" l="l"/>
              <a:pathLst>
                <a:path h="5185440" w="403138">
                  <a:moveTo>
                    <a:pt x="0" y="0"/>
                  </a:moveTo>
                  <a:lnTo>
                    <a:pt x="403138" y="0"/>
                  </a:lnTo>
                  <a:lnTo>
                    <a:pt x="403138" y="5185440"/>
                  </a:lnTo>
                  <a:lnTo>
                    <a:pt x="0" y="5185440"/>
                  </a:lnTo>
                  <a:close/>
                </a:path>
              </a:pathLst>
            </a:custGeom>
            <a:solidFill>
              <a:srgbClr val="385C6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03138" cy="5185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7656976">
            <a:off x="7630298" y="-3994450"/>
            <a:ext cx="261488" cy="19688469"/>
            <a:chOff x="0" y="0"/>
            <a:chExt cx="68869" cy="5185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869" cy="5185440"/>
            </a:xfrm>
            <a:custGeom>
              <a:avLst/>
              <a:gdLst/>
              <a:ahLst/>
              <a:cxnLst/>
              <a:rect r="r" b="b" t="t" l="l"/>
              <a:pathLst>
                <a:path h="5185440" w="68869">
                  <a:moveTo>
                    <a:pt x="0" y="0"/>
                  </a:moveTo>
                  <a:lnTo>
                    <a:pt x="68869" y="0"/>
                  </a:lnTo>
                  <a:lnTo>
                    <a:pt x="68869" y="5185440"/>
                  </a:lnTo>
                  <a:lnTo>
                    <a:pt x="0" y="5185440"/>
                  </a:lnTo>
                  <a:close/>
                </a:path>
              </a:pathLst>
            </a:custGeom>
            <a:solidFill>
              <a:srgbClr val="22465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68869" cy="5185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2422" y="892235"/>
            <a:ext cx="16755595" cy="8194853"/>
            <a:chOff x="0" y="0"/>
            <a:chExt cx="22340793" cy="109264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40768" cy="10926445"/>
            </a:xfrm>
            <a:custGeom>
              <a:avLst/>
              <a:gdLst/>
              <a:ahLst/>
              <a:cxnLst/>
              <a:rect r="r" b="b" t="t" l="l"/>
              <a:pathLst>
                <a:path h="10926445" w="22340768">
                  <a:moveTo>
                    <a:pt x="0" y="1311148"/>
                  </a:moveTo>
                  <a:cubicBezTo>
                    <a:pt x="0" y="586994"/>
                    <a:pt x="592163" y="0"/>
                    <a:pt x="1322694" y="0"/>
                  </a:cubicBezTo>
                  <a:lnTo>
                    <a:pt x="21018074" y="0"/>
                  </a:lnTo>
                  <a:cubicBezTo>
                    <a:pt x="21748604" y="0"/>
                    <a:pt x="22340768" y="586994"/>
                    <a:pt x="22340768" y="1311148"/>
                  </a:cubicBezTo>
                  <a:lnTo>
                    <a:pt x="22340768" y="9615297"/>
                  </a:lnTo>
                  <a:cubicBezTo>
                    <a:pt x="22340768" y="10339451"/>
                    <a:pt x="21748604" y="10926445"/>
                    <a:pt x="21018074" y="10926445"/>
                  </a:cubicBezTo>
                  <a:lnTo>
                    <a:pt x="1322694" y="10926445"/>
                  </a:lnTo>
                  <a:cubicBezTo>
                    <a:pt x="592163" y="10926445"/>
                    <a:pt x="0" y="10339451"/>
                    <a:pt x="0" y="9615297"/>
                  </a:cubicBezTo>
                  <a:close/>
                </a:path>
              </a:pathLst>
            </a:custGeom>
            <a:blipFill>
              <a:blip r:embed="rId2">
                <a:alphaModFix amt="60000"/>
              </a:blip>
              <a:stretch>
                <a:fillRect l="-33838" t="0" r="-13966" b="-20884"/>
              </a:stretch>
            </a:blipFill>
            <a:ln w="66675" cap="sq">
              <a:solidFill>
                <a:srgbClr val="FFFFFF">
                  <a:alpha val="60000"/>
                </a:srgbClr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94556" y="5730902"/>
            <a:ext cx="5161245" cy="2017833"/>
            <a:chOff x="0" y="0"/>
            <a:chExt cx="6881660" cy="26904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81622" cy="2690368"/>
            </a:xfrm>
            <a:custGeom>
              <a:avLst/>
              <a:gdLst/>
              <a:ahLst/>
              <a:cxnLst/>
              <a:rect r="r" b="b" t="t" l="l"/>
              <a:pathLst>
                <a:path h="2690368" w="6881622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6558788" y="0"/>
                  </a:lnTo>
                  <a:cubicBezTo>
                    <a:pt x="6737096" y="0"/>
                    <a:pt x="6881622" y="144526"/>
                    <a:pt x="6881622" y="322834"/>
                  </a:cubicBezTo>
                  <a:lnTo>
                    <a:pt x="6881622" y="2367534"/>
                  </a:lnTo>
                  <a:cubicBezTo>
                    <a:pt x="6881622" y="2545842"/>
                    <a:pt x="6737096" y="2690368"/>
                    <a:pt x="6558788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A5BBC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696305" y="5730902"/>
            <a:ext cx="5161245" cy="2017833"/>
            <a:chOff x="0" y="0"/>
            <a:chExt cx="6881660" cy="26904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81622" cy="2690368"/>
            </a:xfrm>
            <a:custGeom>
              <a:avLst/>
              <a:gdLst/>
              <a:ahLst/>
              <a:cxnLst/>
              <a:rect r="r" b="b" t="t" l="l"/>
              <a:pathLst>
                <a:path h="2690368" w="6881622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6558788" y="0"/>
                  </a:lnTo>
                  <a:cubicBezTo>
                    <a:pt x="6737096" y="0"/>
                    <a:pt x="6881622" y="144526"/>
                    <a:pt x="6881622" y="322834"/>
                  </a:cubicBezTo>
                  <a:lnTo>
                    <a:pt x="6881622" y="2367534"/>
                  </a:lnTo>
                  <a:cubicBezTo>
                    <a:pt x="6881622" y="2545842"/>
                    <a:pt x="6737096" y="2690368"/>
                    <a:pt x="6558788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A5BBC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098055" y="5730902"/>
            <a:ext cx="5161245" cy="2017833"/>
            <a:chOff x="0" y="0"/>
            <a:chExt cx="6881660" cy="26904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81622" cy="2690368"/>
            </a:xfrm>
            <a:custGeom>
              <a:avLst/>
              <a:gdLst/>
              <a:ahLst/>
              <a:cxnLst/>
              <a:rect r="r" b="b" t="t" l="l"/>
              <a:pathLst>
                <a:path h="2690368" w="6881622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6558788" y="0"/>
                  </a:lnTo>
                  <a:cubicBezTo>
                    <a:pt x="6737096" y="0"/>
                    <a:pt x="6881622" y="144526"/>
                    <a:pt x="6881622" y="322834"/>
                  </a:cubicBezTo>
                  <a:lnTo>
                    <a:pt x="6881622" y="2367534"/>
                  </a:lnTo>
                  <a:cubicBezTo>
                    <a:pt x="6881622" y="2545842"/>
                    <a:pt x="6737096" y="2690368"/>
                    <a:pt x="6558788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A5BBC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-3148226">
            <a:off x="15126268" y="-2475635"/>
            <a:ext cx="1024708" cy="10326597"/>
            <a:chOff x="0" y="0"/>
            <a:chExt cx="269882" cy="27197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9882" cy="2719762"/>
            </a:xfrm>
            <a:custGeom>
              <a:avLst/>
              <a:gdLst/>
              <a:ahLst/>
              <a:cxnLst/>
              <a:rect r="r" b="b" t="t" l="l"/>
              <a:pathLst>
                <a:path h="2719762" w="269882">
                  <a:moveTo>
                    <a:pt x="0" y="0"/>
                  </a:moveTo>
                  <a:lnTo>
                    <a:pt x="269882" y="0"/>
                  </a:lnTo>
                  <a:lnTo>
                    <a:pt x="269882" y="2719762"/>
                  </a:lnTo>
                  <a:lnTo>
                    <a:pt x="0" y="2719762"/>
                  </a:lnTo>
                  <a:close/>
                </a:path>
              </a:pathLst>
            </a:custGeom>
            <a:solidFill>
              <a:srgbClr val="385C6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69882" cy="271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3148226">
            <a:off x="15093336" y="-2213723"/>
            <a:ext cx="123945" cy="10326597"/>
            <a:chOff x="0" y="0"/>
            <a:chExt cx="32644" cy="27197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644" cy="2719762"/>
            </a:xfrm>
            <a:custGeom>
              <a:avLst/>
              <a:gdLst/>
              <a:ahLst/>
              <a:cxnLst/>
              <a:rect r="r" b="b" t="t" l="l"/>
              <a:pathLst>
                <a:path h="2719762" w="32644">
                  <a:moveTo>
                    <a:pt x="0" y="0"/>
                  </a:moveTo>
                  <a:lnTo>
                    <a:pt x="32644" y="0"/>
                  </a:lnTo>
                  <a:lnTo>
                    <a:pt x="32644" y="2719762"/>
                  </a:lnTo>
                  <a:lnTo>
                    <a:pt x="0" y="2719762"/>
                  </a:lnTo>
                  <a:close/>
                </a:path>
              </a:pathLst>
            </a:custGeom>
            <a:solidFill>
              <a:srgbClr val="22465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2644" cy="2719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294556" y="1482725"/>
            <a:ext cx="5317487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 b="true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ATLAS</a:t>
            </a:r>
          </a:p>
          <a:p>
            <a:pPr algn="l">
              <a:lnSpc>
                <a:spcPts val="11519"/>
              </a:lnSpc>
            </a:pPr>
            <a:r>
              <a:rPr lang="en-US" sz="9600" b="true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INSIGHT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4556" y="4438288"/>
            <a:ext cx="931070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>
                <a:solidFill>
                  <a:srgbClr val="A5BBCA"/>
                </a:solidFill>
                <a:latin typeface="Lato"/>
                <a:ea typeface="Lato"/>
                <a:cs typeface="Lato"/>
                <a:sym typeface="Lato"/>
              </a:rPr>
              <a:t>Từ dữ liệu lịch sử đến phân khúc &amp; dự đoán bằng AI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67386" y="6026333"/>
            <a:ext cx="230779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71424"/>
                </a:solidFill>
                <a:latin typeface="Lato Bold"/>
                <a:ea typeface="Lato Bold"/>
                <a:cs typeface="Lato Bold"/>
                <a:sym typeface="Lato Bold"/>
              </a:rPr>
              <a:t>QUAN SÁT ML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67386" y="6625038"/>
            <a:ext cx="147466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1B4A4F"/>
                </a:solidFill>
                <a:latin typeface="Lato Bold"/>
                <a:ea typeface="Lato Bold"/>
                <a:cs typeface="Lato Bold"/>
                <a:sym typeface="Lato Bold"/>
              </a:rPr>
              <a:t>1.704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11973" y="6026333"/>
            <a:ext cx="452990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71424"/>
                </a:solidFill>
                <a:latin typeface="Lato Bold"/>
                <a:ea typeface="Lato Bold"/>
                <a:cs typeface="Lato Bold"/>
                <a:sym typeface="Lato Bold"/>
              </a:rPr>
              <a:t>91,26% VARIANCE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984522" y="6672663"/>
            <a:ext cx="455736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 b="true">
                <a:solidFill>
                  <a:srgbClr val="1B4A4F"/>
                </a:solidFill>
                <a:latin typeface="Lato Bold"/>
                <a:ea typeface="Lato Bold"/>
                <a:cs typeface="Lato Bold"/>
                <a:sym typeface="Lato Bold"/>
              </a:rPr>
              <a:t>7 PCs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13723" y="6008492"/>
            <a:ext cx="452990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0243B"/>
                </a:solidFill>
                <a:latin typeface="Lato Bold"/>
                <a:ea typeface="Lato Bold"/>
                <a:cs typeface="Lato Bold"/>
                <a:sym typeface="Lato Bold"/>
              </a:rPr>
              <a:t>MÔ HÌNH BENCHMARK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13723" y="6589509"/>
            <a:ext cx="4557360" cy="718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b="true" sz="3602">
                <a:solidFill>
                  <a:srgbClr val="1B4A4F"/>
                </a:solidFill>
                <a:latin typeface="Lato Bold"/>
                <a:ea typeface="Lato Bold"/>
                <a:cs typeface="Lato Bold"/>
                <a:sym typeface="Lato Bold"/>
              </a:rPr>
              <a:t>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107652" y="146335"/>
            <a:ext cx="1726862" cy="517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8"/>
              </a:lnSpc>
            </a:pPr>
            <a:r>
              <a:rPr lang="en-US" sz="3034" b="true">
                <a:solidFill>
                  <a:srgbClr val="A5BBC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Group 12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221952">
            <a:off x="-2794840" y="3173739"/>
            <a:ext cx="21728955" cy="2194128"/>
            <a:chOff x="0" y="0"/>
            <a:chExt cx="5722852" cy="5778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22852" cy="577877"/>
            </a:xfrm>
            <a:custGeom>
              <a:avLst/>
              <a:gdLst/>
              <a:ahLst/>
              <a:cxnLst/>
              <a:rect r="r" b="b" t="t" l="l"/>
              <a:pathLst>
                <a:path h="577877" w="5722852">
                  <a:moveTo>
                    <a:pt x="0" y="0"/>
                  </a:moveTo>
                  <a:lnTo>
                    <a:pt x="5722852" y="0"/>
                  </a:lnTo>
                  <a:lnTo>
                    <a:pt x="5722852" y="577877"/>
                  </a:lnTo>
                  <a:lnTo>
                    <a:pt x="0" y="577877"/>
                  </a:lnTo>
                  <a:close/>
                </a:path>
              </a:pathLst>
            </a:custGeom>
            <a:solidFill>
              <a:srgbClr val="F1F8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722852" cy="587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0" y="0"/>
            <a:ext cx="5709713" cy="5143500"/>
          </a:xfrm>
          <a:custGeom>
            <a:avLst/>
            <a:gdLst/>
            <a:ahLst/>
            <a:cxnLst/>
            <a:rect r="r" b="b" t="t" l="l"/>
            <a:pathLst>
              <a:path h="5143500" w="5709713">
                <a:moveTo>
                  <a:pt x="0" y="0"/>
                </a:moveTo>
                <a:lnTo>
                  <a:pt x="5709713" y="0"/>
                </a:lnTo>
                <a:lnTo>
                  <a:pt x="570971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91454" y="7227278"/>
            <a:ext cx="3396546" cy="3059722"/>
          </a:xfrm>
          <a:custGeom>
            <a:avLst/>
            <a:gdLst/>
            <a:ahLst/>
            <a:cxnLst/>
            <a:rect r="r" b="b" t="t" l="l"/>
            <a:pathLst>
              <a:path h="3059722" w="3396546">
                <a:moveTo>
                  <a:pt x="0" y="0"/>
                </a:moveTo>
                <a:lnTo>
                  <a:pt x="3396546" y="0"/>
                </a:lnTo>
                <a:lnTo>
                  <a:pt x="3396546" y="3059722"/>
                </a:lnTo>
                <a:lnTo>
                  <a:pt x="0" y="30597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05946" y="3197492"/>
            <a:ext cx="10139229" cy="350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1"/>
              </a:lnSpc>
            </a:pPr>
            <a:r>
              <a:rPr lang="en-US" b="true" sz="20515">
                <a:solidFill>
                  <a:srgbClr val="537B8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STAGE 1</a:t>
            </a:r>
          </a:p>
        </p:txBody>
      </p:sp>
      <p:grpSp>
        <p:nvGrpSpPr>
          <p:cNvPr name="Group 8" id="8"/>
          <p:cNvGrpSpPr/>
          <p:nvPr/>
        </p:nvGrpSpPr>
        <p:grpSpPr>
          <a:xfrm rot="2440382">
            <a:off x="-5561375" y="10214030"/>
            <a:ext cx="21728955" cy="248687"/>
            <a:chOff x="0" y="0"/>
            <a:chExt cx="5722852" cy="654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22852" cy="65498"/>
            </a:xfrm>
            <a:custGeom>
              <a:avLst/>
              <a:gdLst/>
              <a:ahLst/>
              <a:cxnLst/>
              <a:rect r="r" b="b" t="t" l="l"/>
              <a:pathLst>
                <a:path h="65498" w="5722852">
                  <a:moveTo>
                    <a:pt x="0" y="0"/>
                  </a:moveTo>
                  <a:lnTo>
                    <a:pt x="5722852" y="0"/>
                  </a:lnTo>
                  <a:lnTo>
                    <a:pt x="5722852" y="65498"/>
                  </a:lnTo>
                  <a:lnTo>
                    <a:pt x="0" y="65498"/>
                  </a:lnTo>
                  <a:close/>
                </a:path>
              </a:pathLst>
            </a:custGeom>
            <a:solidFill>
              <a:srgbClr val="AED3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5722852" cy="75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221952">
            <a:off x="-3515397" y="3088107"/>
            <a:ext cx="21728955" cy="289963"/>
            <a:chOff x="0" y="0"/>
            <a:chExt cx="5722852" cy="763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22852" cy="76369"/>
            </a:xfrm>
            <a:custGeom>
              <a:avLst/>
              <a:gdLst/>
              <a:ahLst/>
              <a:cxnLst/>
              <a:rect r="r" b="b" t="t" l="l"/>
              <a:pathLst>
                <a:path h="76369" w="5722852">
                  <a:moveTo>
                    <a:pt x="0" y="0"/>
                  </a:moveTo>
                  <a:lnTo>
                    <a:pt x="5722852" y="0"/>
                  </a:lnTo>
                  <a:lnTo>
                    <a:pt x="5722852" y="76369"/>
                  </a:lnTo>
                  <a:lnTo>
                    <a:pt x="0" y="76369"/>
                  </a:lnTo>
                  <a:close/>
                </a:path>
              </a:pathLst>
            </a:custGeom>
            <a:solidFill>
              <a:srgbClr val="AED3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722852" cy="85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2440382">
            <a:off x="-6087717" y="7177698"/>
            <a:ext cx="21728955" cy="2194128"/>
            <a:chOff x="0" y="0"/>
            <a:chExt cx="5722852" cy="5778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22852" cy="577877"/>
            </a:xfrm>
            <a:custGeom>
              <a:avLst/>
              <a:gdLst/>
              <a:ahLst/>
              <a:cxnLst/>
              <a:rect r="r" b="b" t="t" l="l"/>
              <a:pathLst>
                <a:path h="577877" w="5722852">
                  <a:moveTo>
                    <a:pt x="0" y="0"/>
                  </a:moveTo>
                  <a:lnTo>
                    <a:pt x="5722852" y="0"/>
                  </a:lnTo>
                  <a:lnTo>
                    <a:pt x="5722852" y="577877"/>
                  </a:lnTo>
                  <a:lnTo>
                    <a:pt x="0" y="577877"/>
                  </a:lnTo>
                  <a:close/>
                </a:path>
              </a:pathLst>
            </a:custGeom>
            <a:solidFill>
              <a:srgbClr val="F1F8F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5722852" cy="587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F8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-2951086">
            <a:off x="-535977" y="6298942"/>
            <a:ext cx="4009035" cy="4772661"/>
          </a:xfrm>
          <a:custGeom>
            <a:avLst/>
            <a:gdLst/>
            <a:ahLst/>
            <a:cxnLst/>
            <a:rect r="r" b="b" t="t" l="l"/>
            <a:pathLst>
              <a:path h="4772661" w="4009035">
                <a:moveTo>
                  <a:pt x="0" y="0"/>
                </a:moveTo>
                <a:lnTo>
                  <a:pt x="4009036" y="0"/>
                </a:lnTo>
                <a:lnTo>
                  <a:pt x="4009036" y="4772661"/>
                </a:lnTo>
                <a:lnTo>
                  <a:pt x="0" y="47726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992172">
            <a:off x="13778807" y="-754006"/>
            <a:ext cx="5104382" cy="5833580"/>
          </a:xfrm>
          <a:custGeom>
            <a:avLst/>
            <a:gdLst/>
            <a:ahLst/>
            <a:cxnLst/>
            <a:rect r="r" b="b" t="t" l="l"/>
            <a:pathLst>
              <a:path h="5833580" w="5104382">
                <a:moveTo>
                  <a:pt x="0" y="0"/>
                </a:moveTo>
                <a:lnTo>
                  <a:pt x="5104382" y="0"/>
                </a:lnTo>
                <a:lnTo>
                  <a:pt x="5104382" y="5833579"/>
                </a:lnTo>
                <a:lnTo>
                  <a:pt x="0" y="5833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623760" y="2374725"/>
            <a:ext cx="3994480" cy="2017833"/>
            <a:chOff x="0" y="0"/>
            <a:chExt cx="5325974" cy="26904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25999" cy="2690368"/>
            </a:xfrm>
            <a:custGeom>
              <a:avLst/>
              <a:gdLst/>
              <a:ahLst/>
              <a:cxnLst/>
              <a:rect r="r" b="b" t="t" l="l"/>
              <a:pathLst>
                <a:path h="2690368" w="5325999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5003165" y="0"/>
                  </a:lnTo>
                  <a:cubicBezTo>
                    <a:pt x="5181473" y="0"/>
                    <a:pt x="5325999" y="144526"/>
                    <a:pt x="5325999" y="322834"/>
                  </a:cubicBezTo>
                  <a:lnTo>
                    <a:pt x="5325999" y="2367534"/>
                  </a:lnTo>
                  <a:cubicBezTo>
                    <a:pt x="5325999" y="2545842"/>
                    <a:pt x="5181473" y="2690368"/>
                    <a:pt x="5003165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366270"/>
            </a:solidFill>
            <a:ln w="38100" cap="sq">
              <a:solidFill>
                <a:srgbClr val="254E5C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375343" y="2374725"/>
            <a:ext cx="3994480" cy="2017833"/>
            <a:chOff x="0" y="0"/>
            <a:chExt cx="5325974" cy="26904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25999" cy="2690368"/>
            </a:xfrm>
            <a:custGeom>
              <a:avLst/>
              <a:gdLst/>
              <a:ahLst/>
              <a:cxnLst/>
              <a:rect r="r" b="b" t="t" l="l"/>
              <a:pathLst>
                <a:path h="2690368" w="5325999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5003165" y="0"/>
                  </a:lnTo>
                  <a:cubicBezTo>
                    <a:pt x="5181473" y="0"/>
                    <a:pt x="5325999" y="144526"/>
                    <a:pt x="5325999" y="322834"/>
                  </a:cubicBezTo>
                  <a:lnTo>
                    <a:pt x="5325999" y="2367534"/>
                  </a:lnTo>
                  <a:cubicBezTo>
                    <a:pt x="5325999" y="2545842"/>
                    <a:pt x="5181473" y="2690368"/>
                    <a:pt x="5003165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366270"/>
            </a:solidFill>
            <a:ln w="38100" cap="sq">
              <a:solidFill>
                <a:srgbClr val="254E5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126926" y="2374725"/>
            <a:ext cx="3994480" cy="2017833"/>
            <a:chOff x="0" y="0"/>
            <a:chExt cx="5325974" cy="26904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25999" cy="2690368"/>
            </a:xfrm>
            <a:custGeom>
              <a:avLst/>
              <a:gdLst/>
              <a:ahLst/>
              <a:cxnLst/>
              <a:rect r="r" b="b" t="t" l="l"/>
              <a:pathLst>
                <a:path h="2690368" w="5325999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5003165" y="0"/>
                  </a:lnTo>
                  <a:cubicBezTo>
                    <a:pt x="5181473" y="0"/>
                    <a:pt x="5325999" y="144526"/>
                    <a:pt x="5325999" y="322834"/>
                  </a:cubicBezTo>
                  <a:lnTo>
                    <a:pt x="5325999" y="2367534"/>
                  </a:lnTo>
                  <a:cubicBezTo>
                    <a:pt x="5325999" y="2545842"/>
                    <a:pt x="5181473" y="2690368"/>
                    <a:pt x="5003165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366270"/>
            </a:solidFill>
            <a:ln w="38100" cap="sq">
              <a:solidFill>
                <a:srgbClr val="254E5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78510" y="2374725"/>
            <a:ext cx="3994480" cy="2017833"/>
            <a:chOff x="0" y="0"/>
            <a:chExt cx="5325974" cy="26904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25999" cy="2690368"/>
            </a:xfrm>
            <a:custGeom>
              <a:avLst/>
              <a:gdLst/>
              <a:ahLst/>
              <a:cxnLst/>
              <a:rect r="r" b="b" t="t" l="l"/>
              <a:pathLst>
                <a:path h="2690368" w="5325999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5003165" y="0"/>
                  </a:lnTo>
                  <a:cubicBezTo>
                    <a:pt x="5181473" y="0"/>
                    <a:pt x="5325999" y="144526"/>
                    <a:pt x="5325999" y="322834"/>
                  </a:cubicBezTo>
                  <a:lnTo>
                    <a:pt x="5325999" y="2367534"/>
                  </a:lnTo>
                  <a:cubicBezTo>
                    <a:pt x="5325999" y="2545842"/>
                    <a:pt x="5181473" y="2690368"/>
                    <a:pt x="5003165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366270"/>
            </a:solidFill>
            <a:ln w="38100" cap="sq">
              <a:solidFill>
                <a:srgbClr val="254E5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05961" y="4790627"/>
            <a:ext cx="7988951" cy="3308137"/>
            <a:chOff x="0" y="0"/>
            <a:chExt cx="10651934" cy="44108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51998" cy="4410837"/>
            </a:xfrm>
            <a:custGeom>
              <a:avLst/>
              <a:gdLst/>
              <a:ahLst/>
              <a:cxnLst/>
              <a:rect r="r" b="b" t="t" l="l"/>
              <a:pathLst>
                <a:path h="4410837" w="10651998">
                  <a:moveTo>
                    <a:pt x="0" y="529336"/>
                  </a:moveTo>
                  <a:cubicBezTo>
                    <a:pt x="0" y="236982"/>
                    <a:pt x="236982" y="0"/>
                    <a:pt x="529336" y="0"/>
                  </a:cubicBezTo>
                  <a:lnTo>
                    <a:pt x="10122662" y="0"/>
                  </a:lnTo>
                  <a:cubicBezTo>
                    <a:pt x="10415016" y="0"/>
                    <a:pt x="10651998" y="236982"/>
                    <a:pt x="10651998" y="529336"/>
                  </a:cubicBezTo>
                  <a:lnTo>
                    <a:pt x="10651998" y="3881501"/>
                  </a:lnTo>
                  <a:cubicBezTo>
                    <a:pt x="10651998" y="4173855"/>
                    <a:pt x="10415016" y="4410837"/>
                    <a:pt x="10122662" y="4410837"/>
                  </a:cubicBezTo>
                  <a:lnTo>
                    <a:pt x="529336" y="4410837"/>
                  </a:lnTo>
                  <a:cubicBezTo>
                    <a:pt x="236982" y="4410837"/>
                    <a:pt x="0" y="4173855"/>
                    <a:pt x="0" y="3881501"/>
                  </a:cubicBezTo>
                  <a:close/>
                </a:path>
              </a:pathLst>
            </a:custGeom>
            <a:solidFill>
              <a:srgbClr val="254E5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2000" y="4790627"/>
            <a:ext cx="8208578" cy="3308137"/>
            <a:chOff x="0" y="0"/>
            <a:chExt cx="10944771" cy="4410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44860" cy="4410837"/>
            </a:xfrm>
            <a:custGeom>
              <a:avLst/>
              <a:gdLst/>
              <a:ahLst/>
              <a:cxnLst/>
              <a:rect r="r" b="b" t="t" l="l"/>
              <a:pathLst>
                <a:path h="4410837" w="10944860">
                  <a:moveTo>
                    <a:pt x="0" y="529336"/>
                  </a:moveTo>
                  <a:cubicBezTo>
                    <a:pt x="0" y="236982"/>
                    <a:pt x="236982" y="0"/>
                    <a:pt x="529336" y="0"/>
                  </a:cubicBezTo>
                  <a:lnTo>
                    <a:pt x="10415524" y="0"/>
                  </a:lnTo>
                  <a:cubicBezTo>
                    <a:pt x="10707878" y="0"/>
                    <a:pt x="10944860" y="236982"/>
                    <a:pt x="10944860" y="529336"/>
                  </a:cubicBezTo>
                  <a:lnTo>
                    <a:pt x="10944860" y="3881501"/>
                  </a:lnTo>
                  <a:cubicBezTo>
                    <a:pt x="10944860" y="4173855"/>
                    <a:pt x="10707878" y="4410837"/>
                    <a:pt x="10415524" y="4410837"/>
                  </a:cubicBezTo>
                  <a:lnTo>
                    <a:pt x="529336" y="4410837"/>
                  </a:lnTo>
                  <a:cubicBezTo>
                    <a:pt x="236982" y="4410837"/>
                    <a:pt x="0" y="4173855"/>
                    <a:pt x="0" y="3881501"/>
                  </a:cubicBezTo>
                  <a:close/>
                </a:path>
              </a:pathLst>
            </a:custGeom>
            <a:solidFill>
              <a:srgbClr val="254E5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64784" y="8716470"/>
            <a:ext cx="16513245" cy="713794"/>
            <a:chOff x="0" y="0"/>
            <a:chExt cx="22017660" cy="9517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017610" cy="951738"/>
            </a:xfrm>
            <a:custGeom>
              <a:avLst/>
              <a:gdLst/>
              <a:ahLst/>
              <a:cxnLst/>
              <a:rect r="r" b="b" t="t" l="l"/>
              <a:pathLst>
                <a:path h="951738" w="2201761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21903437" y="0"/>
                  </a:lnTo>
                  <a:cubicBezTo>
                    <a:pt x="21966555" y="0"/>
                    <a:pt x="22017610" y="51181"/>
                    <a:pt x="22017610" y="114173"/>
                  </a:cubicBezTo>
                  <a:lnTo>
                    <a:pt x="22017610" y="837565"/>
                  </a:lnTo>
                  <a:cubicBezTo>
                    <a:pt x="22017610" y="900684"/>
                    <a:pt x="21966428" y="951738"/>
                    <a:pt x="21903437" y="951738"/>
                  </a:cubicBezTo>
                  <a:lnTo>
                    <a:pt x="114173" y="951738"/>
                  </a:lnTo>
                  <a:cubicBezTo>
                    <a:pt x="51181" y="951738"/>
                    <a:pt x="0" y="900557"/>
                    <a:pt x="0" y="837565"/>
                  </a:cubicBezTo>
                  <a:close/>
                </a:path>
              </a:pathLst>
            </a:custGeom>
            <a:solidFill>
              <a:srgbClr val="254E5C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0" y="1390650"/>
            <a:ext cx="4327632" cy="476040"/>
          </a:xfrm>
          <a:custGeom>
            <a:avLst/>
            <a:gdLst/>
            <a:ahLst/>
            <a:cxnLst/>
            <a:rect r="r" b="b" t="t" l="l"/>
            <a:pathLst>
              <a:path h="476040" w="4327632">
                <a:moveTo>
                  <a:pt x="0" y="0"/>
                </a:moveTo>
                <a:lnTo>
                  <a:pt x="4327632" y="0"/>
                </a:lnTo>
                <a:lnTo>
                  <a:pt x="4327632" y="476040"/>
                </a:lnTo>
                <a:lnTo>
                  <a:pt x="0" y="4760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84479" y="1508161"/>
            <a:ext cx="4327632" cy="476040"/>
          </a:xfrm>
          <a:custGeom>
            <a:avLst/>
            <a:gdLst/>
            <a:ahLst/>
            <a:cxnLst/>
            <a:rect r="r" b="b" t="t" l="l"/>
            <a:pathLst>
              <a:path h="476040" w="4327632">
                <a:moveTo>
                  <a:pt x="0" y="0"/>
                </a:moveTo>
                <a:lnTo>
                  <a:pt x="4327632" y="0"/>
                </a:lnTo>
                <a:lnTo>
                  <a:pt x="4327632" y="476039"/>
                </a:lnTo>
                <a:lnTo>
                  <a:pt x="0" y="4760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124167" y="1279561"/>
            <a:ext cx="4327632" cy="476040"/>
          </a:xfrm>
          <a:custGeom>
            <a:avLst/>
            <a:gdLst/>
            <a:ahLst/>
            <a:cxnLst/>
            <a:rect r="r" b="b" t="t" l="l"/>
            <a:pathLst>
              <a:path h="476040" w="4327632">
                <a:moveTo>
                  <a:pt x="0" y="0"/>
                </a:moveTo>
                <a:lnTo>
                  <a:pt x="4327632" y="0"/>
                </a:lnTo>
                <a:lnTo>
                  <a:pt x="4327632" y="476039"/>
                </a:lnTo>
                <a:lnTo>
                  <a:pt x="0" y="4760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728859" y="1422436"/>
            <a:ext cx="4327632" cy="476040"/>
          </a:xfrm>
          <a:custGeom>
            <a:avLst/>
            <a:gdLst/>
            <a:ahLst/>
            <a:cxnLst/>
            <a:rect r="r" b="b" t="t" l="l"/>
            <a:pathLst>
              <a:path h="476040" w="4327632">
                <a:moveTo>
                  <a:pt x="0" y="0"/>
                </a:moveTo>
                <a:lnTo>
                  <a:pt x="4327632" y="0"/>
                </a:lnTo>
                <a:lnTo>
                  <a:pt x="4327632" y="476039"/>
                </a:lnTo>
                <a:lnTo>
                  <a:pt x="0" y="4760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447311" y="1184416"/>
            <a:ext cx="4327632" cy="476040"/>
          </a:xfrm>
          <a:custGeom>
            <a:avLst/>
            <a:gdLst/>
            <a:ahLst/>
            <a:cxnLst/>
            <a:rect r="r" b="b" t="t" l="l"/>
            <a:pathLst>
              <a:path h="476040" w="4327632">
                <a:moveTo>
                  <a:pt x="0" y="0"/>
                </a:moveTo>
                <a:lnTo>
                  <a:pt x="4327632" y="0"/>
                </a:lnTo>
                <a:lnTo>
                  <a:pt x="4327632" y="476040"/>
                </a:lnTo>
                <a:lnTo>
                  <a:pt x="0" y="4760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64784" y="470041"/>
            <a:ext cx="569075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22445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Tổng quan dự án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4178" y="2589771"/>
            <a:ext cx="336313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DỮ LIỆU ML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0452" y="3056477"/>
            <a:ext cx="3390586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83BDC0"/>
                </a:solidFill>
                <a:latin typeface="Lato Bold"/>
                <a:ea typeface="Lato Bold"/>
                <a:cs typeface="Lato Bold"/>
                <a:sym typeface="Lato Bold"/>
              </a:rPr>
              <a:t>1.704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80452" y="3843099"/>
            <a:ext cx="340431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5BBCA"/>
                </a:solidFill>
                <a:latin typeface="Lato"/>
                <a:ea typeface="Lato"/>
                <a:cs typeface="Lato"/>
                <a:sym typeface="Lato"/>
              </a:rPr>
              <a:t>142 quốc gia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49462" y="2589771"/>
            <a:ext cx="336313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BẢNG ĐA NGUỒN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435737" y="3056477"/>
            <a:ext cx="3390586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83BDC0"/>
                </a:solidFill>
                <a:latin typeface="Lato Bold"/>
                <a:ea typeface="Lato Bold"/>
                <a:cs typeface="Lato Bold"/>
                <a:sym typeface="Lato Bold"/>
              </a:rPr>
              <a:t>3.104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35737" y="3843099"/>
            <a:ext cx="340431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5BBCA"/>
                </a:solidFill>
                <a:latin typeface="Lato"/>
                <a:ea typeface="Lato"/>
                <a:cs typeface="Lato"/>
                <a:sym typeface="Lato"/>
              </a:rPr>
              <a:t>2 nguồn theo nhà cung cấp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18481" y="2589771"/>
            <a:ext cx="336313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BIỂU ĐỒ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04746" y="3056477"/>
            <a:ext cx="3390586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83BDC0"/>
                </a:solidFill>
                <a:latin typeface="Lato Bold"/>
                <a:ea typeface="Lato Bold"/>
                <a:cs typeface="Lato Bold"/>
                <a:sym typeface="Lato Bold"/>
              </a:rPr>
              <a:t>16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04746" y="3843099"/>
            <a:ext cx="340431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5BBCA"/>
                </a:solidFill>
                <a:latin typeface="Lato"/>
                <a:ea typeface="Lato"/>
                <a:cs typeface="Lato"/>
                <a:sym typeface="Lato"/>
              </a:rPr>
              <a:t>EDA + ML diagnostics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987491" y="2589771"/>
            <a:ext cx="311605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HAI DATABASE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973766" y="3056477"/>
            <a:ext cx="3143507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83BDC0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973766" y="3843099"/>
            <a:ext cx="315723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5BBCA"/>
                </a:solidFill>
                <a:latin typeface="Lato"/>
                <a:ea typeface="Lato"/>
                <a:cs typeface="Lato"/>
                <a:sym typeface="Lato"/>
              </a:rPr>
              <a:t>SQLite + ChromaDB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21638" y="5046850"/>
            <a:ext cx="7357605" cy="47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951">
                <a:solidFill>
                  <a:srgbClr val="A5BBCA"/>
                </a:solidFill>
                <a:latin typeface="Lato Bold"/>
                <a:ea typeface="Lato Bold"/>
                <a:cs typeface="Lato Bold"/>
                <a:sym typeface="Lato Bold"/>
              </a:rPr>
              <a:t>STAGE 1 – DATA FOUNDATION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21638" y="5905114"/>
            <a:ext cx="701632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1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Nguồn thực → concat / merge → SQLite + ChromaDB → Imputation + EDA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457668" y="5046850"/>
            <a:ext cx="7577233" cy="47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951">
                <a:solidFill>
                  <a:srgbClr val="A5BBCA"/>
                </a:solidFill>
                <a:latin typeface="Lato Bold"/>
                <a:ea typeface="Lato Bold"/>
                <a:cs typeface="Lato Bold"/>
                <a:sym typeface="Lato Bold"/>
              </a:rPr>
              <a:t>STAGE 2 – AI &amp; DEMO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457668" y="5997021"/>
            <a:ext cx="648839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StandardScaler → PCA → K-Means → Regression / Classification → Gradio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4178" y="8876605"/>
            <a:ext cx="83951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1F8FA"/>
                </a:solidFill>
                <a:latin typeface="Noto Sans"/>
                <a:ea typeface="Noto Sans"/>
                <a:cs typeface="Noto Sans"/>
                <a:sym typeface="Noto Sans"/>
              </a:rPr>
              <a:t>Quy tắc: không nhân đôi cùng quốc gia - năm khi huấn luyện ML.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5039"/>
            <a:chOff x="0" y="0"/>
            <a:chExt cx="24384000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961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383961">
                  <a:moveTo>
                    <a:pt x="0" y="0"/>
                  </a:moveTo>
                  <a:lnTo>
                    <a:pt x="24383961" y="0"/>
                  </a:lnTo>
                  <a:lnTo>
                    <a:pt x="24383961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F8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9686" y="2264912"/>
            <a:ext cx="8098765" cy="4996529"/>
            <a:chOff x="0" y="0"/>
            <a:chExt cx="10798353" cy="66620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98429" cy="6662039"/>
            </a:xfrm>
            <a:custGeom>
              <a:avLst/>
              <a:gdLst/>
              <a:ahLst/>
              <a:cxnLst/>
              <a:rect r="r" b="b" t="t" l="l"/>
              <a:pathLst>
                <a:path h="6662039" w="10798429">
                  <a:moveTo>
                    <a:pt x="0" y="799465"/>
                  </a:moveTo>
                  <a:cubicBezTo>
                    <a:pt x="0" y="357886"/>
                    <a:pt x="357886" y="0"/>
                    <a:pt x="799465" y="0"/>
                  </a:cubicBezTo>
                  <a:lnTo>
                    <a:pt x="9998964" y="0"/>
                  </a:lnTo>
                  <a:cubicBezTo>
                    <a:pt x="10440543" y="0"/>
                    <a:pt x="10798429" y="357886"/>
                    <a:pt x="10798429" y="799465"/>
                  </a:cubicBezTo>
                  <a:lnTo>
                    <a:pt x="10798429" y="5862574"/>
                  </a:lnTo>
                  <a:cubicBezTo>
                    <a:pt x="10798429" y="6304153"/>
                    <a:pt x="10440543" y="6662039"/>
                    <a:pt x="9998964" y="6662039"/>
                  </a:cubicBezTo>
                  <a:lnTo>
                    <a:pt x="799465" y="6662039"/>
                  </a:lnTo>
                  <a:cubicBezTo>
                    <a:pt x="357886" y="6662039"/>
                    <a:pt x="0" y="6304153"/>
                    <a:pt x="0" y="5862574"/>
                  </a:cubicBezTo>
                  <a:close/>
                </a:path>
              </a:pathLst>
            </a:custGeom>
            <a:blipFill>
              <a:blip r:embed="rId2">
                <a:alphaModFix amt="77000"/>
              </a:blip>
              <a:stretch>
                <a:fillRect l="-63036" t="-325" r="-76100" b="-5472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51813" y="2264912"/>
            <a:ext cx="8098765" cy="4996529"/>
            <a:chOff x="0" y="0"/>
            <a:chExt cx="10798353" cy="66620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98429" cy="6662039"/>
            </a:xfrm>
            <a:custGeom>
              <a:avLst/>
              <a:gdLst/>
              <a:ahLst/>
              <a:cxnLst/>
              <a:rect r="r" b="b" t="t" l="l"/>
              <a:pathLst>
                <a:path h="6662039" w="10798429">
                  <a:moveTo>
                    <a:pt x="0" y="799465"/>
                  </a:moveTo>
                  <a:cubicBezTo>
                    <a:pt x="0" y="357886"/>
                    <a:pt x="357886" y="0"/>
                    <a:pt x="799465" y="0"/>
                  </a:cubicBezTo>
                  <a:lnTo>
                    <a:pt x="9998964" y="0"/>
                  </a:lnTo>
                  <a:cubicBezTo>
                    <a:pt x="10440543" y="0"/>
                    <a:pt x="10798429" y="357886"/>
                    <a:pt x="10798429" y="799465"/>
                  </a:cubicBezTo>
                  <a:lnTo>
                    <a:pt x="10798429" y="5862574"/>
                  </a:lnTo>
                  <a:cubicBezTo>
                    <a:pt x="10798429" y="6304153"/>
                    <a:pt x="10440543" y="6662039"/>
                    <a:pt x="9998964" y="6662039"/>
                  </a:cubicBezTo>
                  <a:lnTo>
                    <a:pt x="799465" y="6662039"/>
                  </a:lnTo>
                  <a:cubicBezTo>
                    <a:pt x="357886" y="6662039"/>
                    <a:pt x="0" y="6304153"/>
                    <a:pt x="0" y="5862574"/>
                  </a:cubicBezTo>
                  <a:close/>
                </a:path>
              </a:pathLst>
            </a:custGeom>
            <a:blipFill>
              <a:blip r:embed="rId2">
                <a:alphaModFix amt="77000"/>
              </a:blip>
              <a:stretch>
                <a:fillRect l="-119236" t="0" r="-29726" b="-6141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27518" y="6074692"/>
            <a:ext cx="19980091" cy="4114800"/>
            <a:chOff x="0" y="0"/>
            <a:chExt cx="26640121" cy="54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057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5805714">
                  <a:moveTo>
                    <a:pt x="0" y="0"/>
                  </a:moveTo>
                  <a:lnTo>
                    <a:pt x="5805714" y="0"/>
                  </a:lnTo>
                  <a:lnTo>
                    <a:pt x="58057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399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208602" y="0"/>
              <a:ext cx="58057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5805714">
                  <a:moveTo>
                    <a:pt x="0" y="0"/>
                  </a:moveTo>
                  <a:lnTo>
                    <a:pt x="5805714" y="0"/>
                  </a:lnTo>
                  <a:lnTo>
                    <a:pt x="58057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399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0417203" y="0"/>
              <a:ext cx="58057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5805714">
                  <a:moveTo>
                    <a:pt x="0" y="0"/>
                  </a:moveTo>
                  <a:lnTo>
                    <a:pt x="5805715" y="0"/>
                  </a:lnTo>
                  <a:lnTo>
                    <a:pt x="5805715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399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5625805" y="0"/>
              <a:ext cx="58057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5805714">
                  <a:moveTo>
                    <a:pt x="0" y="0"/>
                  </a:moveTo>
                  <a:lnTo>
                    <a:pt x="5805714" y="0"/>
                  </a:lnTo>
                  <a:lnTo>
                    <a:pt x="58057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399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0834407" y="0"/>
              <a:ext cx="5805714" cy="5486400"/>
            </a:xfrm>
            <a:custGeom>
              <a:avLst/>
              <a:gdLst/>
              <a:ahLst/>
              <a:cxnLst/>
              <a:rect r="r" b="b" t="t" l="l"/>
              <a:pathLst>
                <a:path h="5486400" w="5805714">
                  <a:moveTo>
                    <a:pt x="0" y="0"/>
                  </a:moveTo>
                  <a:lnTo>
                    <a:pt x="5805714" y="0"/>
                  </a:lnTo>
                  <a:lnTo>
                    <a:pt x="5805714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3999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2833" y="9147391"/>
            <a:ext cx="16513245" cy="713794"/>
            <a:chOff x="0" y="0"/>
            <a:chExt cx="22017660" cy="9517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017610" cy="951738"/>
            </a:xfrm>
            <a:custGeom>
              <a:avLst/>
              <a:gdLst/>
              <a:ahLst/>
              <a:cxnLst/>
              <a:rect r="r" b="b" t="t" l="l"/>
              <a:pathLst>
                <a:path h="951738" w="2201761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21903437" y="0"/>
                  </a:lnTo>
                  <a:cubicBezTo>
                    <a:pt x="21966555" y="0"/>
                    <a:pt x="22017610" y="51181"/>
                    <a:pt x="22017610" y="114173"/>
                  </a:cubicBezTo>
                  <a:lnTo>
                    <a:pt x="22017610" y="837565"/>
                  </a:lnTo>
                  <a:cubicBezTo>
                    <a:pt x="22017610" y="900684"/>
                    <a:pt x="21966428" y="951738"/>
                    <a:pt x="21903437" y="951738"/>
                  </a:cubicBezTo>
                  <a:lnTo>
                    <a:pt x="114173" y="951738"/>
                  </a:lnTo>
                  <a:cubicBezTo>
                    <a:pt x="51181" y="951738"/>
                    <a:pt x="0" y="900557"/>
                    <a:pt x="0" y="837565"/>
                  </a:cubicBezTo>
                  <a:close/>
                </a:path>
              </a:pathLst>
            </a:custGeom>
            <a:solidFill>
              <a:srgbClr val="224450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-997870" y="-416052"/>
            <a:ext cx="7315200" cy="2889504"/>
          </a:xfrm>
          <a:custGeom>
            <a:avLst/>
            <a:gdLst/>
            <a:ahLst/>
            <a:cxnLst/>
            <a:rect r="r" b="b" t="t" l="l"/>
            <a:pathLst>
              <a:path h="2889504" w="7315200">
                <a:moveTo>
                  <a:pt x="0" y="0"/>
                </a:moveTo>
                <a:lnTo>
                  <a:pt x="7315200" y="0"/>
                </a:lnTo>
                <a:lnTo>
                  <a:pt x="7315200" y="2889504"/>
                </a:lnTo>
                <a:lnTo>
                  <a:pt x="0" y="28895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4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468780" y="205740"/>
            <a:ext cx="7315200" cy="1645920"/>
          </a:xfrm>
          <a:custGeom>
            <a:avLst/>
            <a:gdLst/>
            <a:ahLst/>
            <a:cxnLst/>
            <a:rect r="r" b="b" t="t" l="l"/>
            <a:pathLst>
              <a:path h="1645920" w="7315200">
                <a:moveTo>
                  <a:pt x="0" y="0"/>
                </a:moveTo>
                <a:lnTo>
                  <a:pt x="7315200" y="0"/>
                </a:lnTo>
                <a:lnTo>
                  <a:pt x="7315200" y="1645920"/>
                </a:lnTo>
                <a:lnTo>
                  <a:pt x="0" y="16459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4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3266313" y="764771"/>
            <a:ext cx="11504276" cy="974254"/>
            <a:chOff x="0" y="0"/>
            <a:chExt cx="3029933" cy="2565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29933" cy="256594"/>
            </a:xfrm>
            <a:custGeom>
              <a:avLst/>
              <a:gdLst/>
              <a:ahLst/>
              <a:cxnLst/>
              <a:rect r="r" b="b" t="t" l="l"/>
              <a:pathLst>
                <a:path h="256594" w="3029933">
                  <a:moveTo>
                    <a:pt x="2826733" y="0"/>
                  </a:moveTo>
                  <a:cubicBezTo>
                    <a:pt x="2938957" y="0"/>
                    <a:pt x="3029933" y="57440"/>
                    <a:pt x="3029933" y="128297"/>
                  </a:cubicBezTo>
                  <a:cubicBezTo>
                    <a:pt x="3029933" y="199153"/>
                    <a:pt x="2938957" y="256594"/>
                    <a:pt x="2826733" y="256594"/>
                  </a:cubicBezTo>
                  <a:lnTo>
                    <a:pt x="203200" y="256594"/>
                  </a:lnTo>
                  <a:cubicBezTo>
                    <a:pt x="90976" y="256594"/>
                    <a:pt x="0" y="199153"/>
                    <a:pt x="0" y="128297"/>
                  </a:cubicBezTo>
                  <a:cubicBezTo>
                    <a:pt x="0" y="574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1F8FA"/>
            </a:solidFill>
            <a:ln w="38100" cap="sq">
              <a:solidFill>
                <a:srgbClr val="A5BBCA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029933" cy="256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62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080320" y="923286"/>
            <a:ext cx="1012736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254E5C"/>
                </a:solidFill>
                <a:latin typeface="Lato Bold"/>
                <a:ea typeface="Lato Bold"/>
                <a:cs typeface="Lato Bold"/>
                <a:sym typeface="Lato Bold"/>
              </a:rPr>
              <a:t>Hai nguồn dữ liệu - cùng khóa ISO3 + year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2227" y="3618052"/>
            <a:ext cx="746741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>
                <a:solidFill>
                  <a:srgbClr val="10243B"/>
                </a:solidFill>
                <a:latin typeface="Lato Bold"/>
                <a:ea typeface="Lato Bold"/>
                <a:cs typeface="Lato Bold"/>
                <a:sym typeface="Lato Bold"/>
              </a:rPr>
              <a:t>GAPMINDER / PLOTLY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5359" y="4318163"/>
            <a:ext cx="7467419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24652"/>
                </a:solidFill>
                <a:latin typeface="Lato"/>
                <a:ea typeface="Lato"/>
                <a:cs typeface="Lato"/>
                <a:sym typeface="Lato"/>
              </a:rPr>
              <a:t>1.704 quan sát - 142 quốc gia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24652"/>
                </a:solidFill>
                <a:latin typeface="Lato"/>
                <a:ea typeface="Lato"/>
                <a:cs typeface="Lato"/>
                <a:sym typeface="Lato"/>
              </a:rPr>
              <a:t>1952–2007 - GDP/người, dân số, tuổi thọ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24652"/>
                </a:solidFill>
                <a:latin typeface="Lato"/>
                <a:ea typeface="Lato"/>
                <a:cs typeface="Lato"/>
                <a:sym typeface="Lato"/>
              </a:rPr>
              <a:t>Nguồn huấn luyện mô hình chính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67486" y="3618052"/>
            <a:ext cx="746741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>
                <a:solidFill>
                  <a:srgbClr val="10243B"/>
                </a:solidFill>
                <a:latin typeface="Lato Bold"/>
                <a:ea typeface="Lato Bold"/>
                <a:cs typeface="Lato Bold"/>
                <a:sym typeface="Lato Bold"/>
              </a:rPr>
              <a:t>WORLD BANK / SP.DYN.LE00.IN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67486" y="4318163"/>
            <a:ext cx="7467419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24652"/>
                </a:solidFill>
                <a:latin typeface="Lato"/>
                <a:ea typeface="Lato"/>
                <a:cs typeface="Lato"/>
                <a:sym typeface="Lato"/>
              </a:rPr>
              <a:t>1.400 quan sát chuẩn hóa - 140 quốc gia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24652"/>
                </a:solidFill>
                <a:latin typeface="Lato"/>
                <a:ea typeface="Lato"/>
                <a:cs typeface="Lato"/>
                <a:sym typeface="Lato"/>
              </a:rPr>
              <a:t>Chỉ tiêu: tuổi thọ lúc sinh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24652"/>
                </a:solidFill>
                <a:latin typeface="Lato"/>
                <a:ea typeface="Lato"/>
                <a:cs typeface="Lato"/>
                <a:sym typeface="Lato"/>
              </a:rPr>
              <a:t>Đối chiếu chất lượng &amp; tích hợp đa nguồn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2227" y="9307535"/>
            <a:ext cx="1585444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Nguồn World Bank không cung cấp GDP và các chỉ số sim_* trong nhánh tích hợp.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750" y="-8039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F8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155920" y="-984576"/>
            <a:ext cx="8994801" cy="7420711"/>
          </a:xfrm>
          <a:custGeom>
            <a:avLst/>
            <a:gdLst/>
            <a:ahLst/>
            <a:cxnLst/>
            <a:rect r="r" b="b" t="t" l="l"/>
            <a:pathLst>
              <a:path h="7420711" w="8994801">
                <a:moveTo>
                  <a:pt x="0" y="0"/>
                </a:moveTo>
                <a:lnTo>
                  <a:pt x="8994801" y="0"/>
                </a:lnTo>
                <a:lnTo>
                  <a:pt x="8994801" y="7420711"/>
                </a:lnTo>
                <a:lnTo>
                  <a:pt x="0" y="7420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96147" y="1962922"/>
            <a:ext cx="16650519" cy="20593"/>
            <a:chOff x="0" y="0"/>
            <a:chExt cx="22200692" cy="274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00743" cy="27432"/>
            </a:xfrm>
            <a:custGeom>
              <a:avLst/>
              <a:gdLst/>
              <a:ahLst/>
              <a:cxnLst/>
              <a:rect r="r" b="b" t="t" l="l"/>
              <a:pathLst>
                <a:path h="27432" w="22200743">
                  <a:moveTo>
                    <a:pt x="0" y="0"/>
                  </a:moveTo>
                  <a:lnTo>
                    <a:pt x="22200743" y="0"/>
                  </a:lnTo>
                  <a:lnTo>
                    <a:pt x="2220074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28435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2196" y="2800774"/>
            <a:ext cx="3047333" cy="3294412"/>
            <a:chOff x="0" y="0"/>
            <a:chExt cx="4063111" cy="43925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3111" cy="4392549"/>
            </a:xfrm>
            <a:custGeom>
              <a:avLst/>
              <a:gdLst/>
              <a:ahLst/>
              <a:cxnLst/>
              <a:rect r="r" b="b" t="t" l="l"/>
              <a:pathLst>
                <a:path h="4392549" w="4063111">
                  <a:moveTo>
                    <a:pt x="0" y="487553"/>
                  </a:moveTo>
                  <a:cubicBezTo>
                    <a:pt x="0" y="218313"/>
                    <a:pt x="218313" y="0"/>
                    <a:pt x="487553" y="0"/>
                  </a:cubicBezTo>
                  <a:lnTo>
                    <a:pt x="3575558" y="0"/>
                  </a:lnTo>
                  <a:cubicBezTo>
                    <a:pt x="3844798" y="0"/>
                    <a:pt x="4063111" y="218313"/>
                    <a:pt x="4063111" y="487553"/>
                  </a:cubicBezTo>
                  <a:lnTo>
                    <a:pt x="4063111" y="3904996"/>
                  </a:lnTo>
                  <a:cubicBezTo>
                    <a:pt x="4063111" y="4174236"/>
                    <a:pt x="3844798" y="4392549"/>
                    <a:pt x="3575558" y="4392549"/>
                  </a:cubicBezTo>
                  <a:lnTo>
                    <a:pt x="487553" y="4392549"/>
                  </a:lnTo>
                  <a:cubicBezTo>
                    <a:pt x="218313" y="4392549"/>
                    <a:pt x="0" y="4174236"/>
                    <a:pt x="0" y="3904996"/>
                  </a:cubicBezTo>
                  <a:close/>
                </a:path>
              </a:pathLst>
            </a:custGeom>
            <a:solidFill>
              <a:srgbClr val="537B8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069971" y="2800774"/>
            <a:ext cx="3047333" cy="3294412"/>
            <a:chOff x="0" y="0"/>
            <a:chExt cx="4063111" cy="43925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3111" cy="4392549"/>
            </a:xfrm>
            <a:custGeom>
              <a:avLst/>
              <a:gdLst/>
              <a:ahLst/>
              <a:cxnLst/>
              <a:rect r="r" b="b" t="t" l="l"/>
              <a:pathLst>
                <a:path h="4392549" w="4063111">
                  <a:moveTo>
                    <a:pt x="0" y="487553"/>
                  </a:moveTo>
                  <a:cubicBezTo>
                    <a:pt x="0" y="218313"/>
                    <a:pt x="218313" y="0"/>
                    <a:pt x="487553" y="0"/>
                  </a:cubicBezTo>
                  <a:lnTo>
                    <a:pt x="3575558" y="0"/>
                  </a:lnTo>
                  <a:cubicBezTo>
                    <a:pt x="3844798" y="0"/>
                    <a:pt x="4063111" y="218313"/>
                    <a:pt x="4063111" y="487553"/>
                  </a:cubicBezTo>
                  <a:lnTo>
                    <a:pt x="4063111" y="3904996"/>
                  </a:lnTo>
                  <a:cubicBezTo>
                    <a:pt x="4063111" y="4174236"/>
                    <a:pt x="3844798" y="4392549"/>
                    <a:pt x="3575558" y="4392549"/>
                  </a:cubicBezTo>
                  <a:lnTo>
                    <a:pt x="487553" y="4392549"/>
                  </a:lnTo>
                  <a:cubicBezTo>
                    <a:pt x="218313" y="4392549"/>
                    <a:pt x="0" y="4174236"/>
                    <a:pt x="0" y="3904996"/>
                  </a:cubicBezTo>
                  <a:close/>
                </a:path>
              </a:pathLst>
            </a:custGeom>
            <a:solidFill>
              <a:srgbClr val="415E6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597735" y="2800774"/>
            <a:ext cx="3047333" cy="3294412"/>
            <a:chOff x="0" y="0"/>
            <a:chExt cx="4063111" cy="43925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3111" cy="4392549"/>
            </a:xfrm>
            <a:custGeom>
              <a:avLst/>
              <a:gdLst/>
              <a:ahLst/>
              <a:cxnLst/>
              <a:rect r="r" b="b" t="t" l="l"/>
              <a:pathLst>
                <a:path h="4392549" w="4063111">
                  <a:moveTo>
                    <a:pt x="0" y="487553"/>
                  </a:moveTo>
                  <a:cubicBezTo>
                    <a:pt x="0" y="218313"/>
                    <a:pt x="218313" y="0"/>
                    <a:pt x="487553" y="0"/>
                  </a:cubicBezTo>
                  <a:lnTo>
                    <a:pt x="3575558" y="0"/>
                  </a:lnTo>
                  <a:cubicBezTo>
                    <a:pt x="3844798" y="0"/>
                    <a:pt x="4063111" y="218313"/>
                    <a:pt x="4063111" y="487553"/>
                  </a:cubicBezTo>
                  <a:lnTo>
                    <a:pt x="4063111" y="3904996"/>
                  </a:lnTo>
                  <a:cubicBezTo>
                    <a:pt x="4063111" y="4174236"/>
                    <a:pt x="3844798" y="4392549"/>
                    <a:pt x="3575558" y="4392549"/>
                  </a:cubicBezTo>
                  <a:lnTo>
                    <a:pt x="487553" y="4392549"/>
                  </a:lnTo>
                  <a:cubicBezTo>
                    <a:pt x="218313" y="4392549"/>
                    <a:pt x="0" y="4174236"/>
                    <a:pt x="0" y="3904996"/>
                  </a:cubicBezTo>
                  <a:close/>
                </a:path>
              </a:pathLst>
            </a:custGeom>
            <a:solidFill>
              <a:srgbClr val="36627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125500" y="2800774"/>
            <a:ext cx="3047333" cy="3294412"/>
            <a:chOff x="0" y="0"/>
            <a:chExt cx="4063111" cy="43925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3111" cy="4392549"/>
            </a:xfrm>
            <a:custGeom>
              <a:avLst/>
              <a:gdLst/>
              <a:ahLst/>
              <a:cxnLst/>
              <a:rect r="r" b="b" t="t" l="l"/>
              <a:pathLst>
                <a:path h="4392549" w="4063111">
                  <a:moveTo>
                    <a:pt x="0" y="487553"/>
                  </a:moveTo>
                  <a:cubicBezTo>
                    <a:pt x="0" y="218313"/>
                    <a:pt x="218313" y="0"/>
                    <a:pt x="487553" y="0"/>
                  </a:cubicBezTo>
                  <a:lnTo>
                    <a:pt x="3575558" y="0"/>
                  </a:lnTo>
                  <a:cubicBezTo>
                    <a:pt x="3844798" y="0"/>
                    <a:pt x="4063111" y="218313"/>
                    <a:pt x="4063111" y="487553"/>
                  </a:cubicBezTo>
                  <a:lnTo>
                    <a:pt x="4063111" y="3904996"/>
                  </a:lnTo>
                  <a:cubicBezTo>
                    <a:pt x="4063111" y="4174236"/>
                    <a:pt x="3844798" y="4392549"/>
                    <a:pt x="3575558" y="4392549"/>
                  </a:cubicBezTo>
                  <a:lnTo>
                    <a:pt x="487553" y="4392549"/>
                  </a:lnTo>
                  <a:cubicBezTo>
                    <a:pt x="218313" y="4392549"/>
                    <a:pt x="0" y="4174236"/>
                    <a:pt x="0" y="3904996"/>
                  </a:cubicBezTo>
                  <a:close/>
                </a:path>
              </a:pathLst>
            </a:custGeom>
            <a:solidFill>
              <a:srgbClr val="254E5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653274" y="2800774"/>
            <a:ext cx="3047333" cy="3294412"/>
            <a:chOff x="0" y="0"/>
            <a:chExt cx="4063111" cy="43925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3111" cy="4392549"/>
            </a:xfrm>
            <a:custGeom>
              <a:avLst/>
              <a:gdLst/>
              <a:ahLst/>
              <a:cxnLst/>
              <a:rect r="r" b="b" t="t" l="l"/>
              <a:pathLst>
                <a:path h="4392549" w="4063111">
                  <a:moveTo>
                    <a:pt x="0" y="487553"/>
                  </a:moveTo>
                  <a:cubicBezTo>
                    <a:pt x="0" y="218313"/>
                    <a:pt x="218313" y="0"/>
                    <a:pt x="487553" y="0"/>
                  </a:cubicBezTo>
                  <a:lnTo>
                    <a:pt x="3575558" y="0"/>
                  </a:lnTo>
                  <a:cubicBezTo>
                    <a:pt x="3844798" y="0"/>
                    <a:pt x="4063111" y="218313"/>
                    <a:pt x="4063111" y="487553"/>
                  </a:cubicBezTo>
                  <a:lnTo>
                    <a:pt x="4063111" y="3904996"/>
                  </a:lnTo>
                  <a:cubicBezTo>
                    <a:pt x="4063111" y="4174236"/>
                    <a:pt x="3844798" y="4392549"/>
                    <a:pt x="3575558" y="4392549"/>
                  </a:cubicBezTo>
                  <a:lnTo>
                    <a:pt x="487553" y="4392549"/>
                  </a:lnTo>
                  <a:cubicBezTo>
                    <a:pt x="218313" y="4392549"/>
                    <a:pt x="0" y="4174236"/>
                    <a:pt x="0" y="3904996"/>
                  </a:cubicBezTo>
                  <a:close/>
                </a:path>
              </a:pathLst>
            </a:custGeom>
            <a:solidFill>
              <a:srgbClr val="22445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78553" y="7333436"/>
            <a:ext cx="16513245" cy="713794"/>
            <a:chOff x="0" y="0"/>
            <a:chExt cx="22017660" cy="9517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17610" cy="951738"/>
            </a:xfrm>
            <a:custGeom>
              <a:avLst/>
              <a:gdLst/>
              <a:ahLst/>
              <a:cxnLst/>
              <a:rect r="r" b="b" t="t" l="l"/>
              <a:pathLst>
                <a:path h="951738" w="2201761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21903437" y="0"/>
                  </a:lnTo>
                  <a:cubicBezTo>
                    <a:pt x="21966555" y="0"/>
                    <a:pt x="22017610" y="51181"/>
                    <a:pt x="22017610" y="114173"/>
                  </a:cubicBezTo>
                  <a:lnTo>
                    <a:pt x="22017610" y="837565"/>
                  </a:lnTo>
                  <a:cubicBezTo>
                    <a:pt x="22017610" y="900684"/>
                    <a:pt x="21966428" y="951738"/>
                    <a:pt x="21903437" y="951738"/>
                  </a:cubicBezTo>
                  <a:lnTo>
                    <a:pt x="114173" y="951738"/>
                  </a:lnTo>
                  <a:cubicBezTo>
                    <a:pt x="51181" y="951738"/>
                    <a:pt x="0" y="900557"/>
                    <a:pt x="0" y="837565"/>
                  </a:cubicBezTo>
                  <a:close/>
                </a:path>
              </a:pathLst>
            </a:custGeom>
            <a:solidFill>
              <a:srgbClr val="22465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82383" y="956291"/>
            <a:ext cx="1677414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b="true" sz="4053">
                <a:solidFill>
                  <a:srgbClr val="254E5C"/>
                </a:solidFill>
                <a:latin typeface="Lato Bold"/>
                <a:ea typeface="Lato Bold"/>
                <a:cs typeface="Lato Bold"/>
                <a:sym typeface="Lato Bold"/>
              </a:rPr>
              <a:t>Data lineage - các bước xử lý rõ nguồn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6688" y="3153094"/>
            <a:ext cx="1262948" cy="44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b="true" sz="2401">
                <a:solidFill>
                  <a:srgbClr val="83BDC0"/>
                </a:solidFill>
                <a:latin typeface="Lato Bold"/>
                <a:ea typeface="Lato Bold"/>
                <a:cs typeface="Lato Bold"/>
                <a:sym typeface="Lato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0423" y="4059055"/>
            <a:ext cx="2553252" cy="131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GAPMINDER</a:t>
            </a:r>
          </a:p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1.704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30668" y="3829902"/>
            <a:ext cx="302076" cy="471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b="true" sz="3002">
                <a:solidFill>
                  <a:srgbClr val="83BDC0"/>
                </a:solidFill>
                <a:latin typeface="Lato Bold"/>
                <a:ea typeface="Lato Bold"/>
                <a:cs typeface="Lato Bold"/>
                <a:sym typeface="Lato Bold"/>
              </a:rPr>
              <a:t>→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44462" y="3153094"/>
            <a:ext cx="1262948" cy="44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b="true" sz="2401">
                <a:solidFill>
                  <a:srgbClr val="83BDC0"/>
                </a:solidFill>
                <a:latin typeface="Lato Bold"/>
                <a:ea typeface="Lato Bold"/>
                <a:cs typeface="Lato Bold"/>
                <a:sym typeface="Lato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58188" y="4059055"/>
            <a:ext cx="2553252" cy="131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WORLD BANK</a:t>
            </a:r>
          </a:p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1.400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158433" y="3829902"/>
            <a:ext cx="302076" cy="471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b="true" sz="3002">
                <a:solidFill>
                  <a:srgbClr val="83BDC0"/>
                </a:solidFill>
                <a:latin typeface="Lato Bold"/>
                <a:ea typeface="Lato Bold"/>
                <a:cs typeface="Lato Bold"/>
                <a:sym typeface="Lato Bold"/>
              </a:rPr>
              <a:t>→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72227" y="3153094"/>
            <a:ext cx="1262948" cy="44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b="true" sz="2401">
                <a:solidFill>
                  <a:srgbClr val="83BDC0"/>
                </a:solidFill>
                <a:latin typeface="Lato Bold"/>
                <a:ea typeface="Lato Bold"/>
                <a:cs typeface="Lato Bold"/>
                <a:sym typeface="Lato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85952" y="4059055"/>
            <a:ext cx="2553252" cy="131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CONCAT</a:t>
            </a:r>
          </a:p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3.104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86207" y="3829902"/>
            <a:ext cx="302076" cy="471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b="true" sz="3002">
                <a:solidFill>
                  <a:srgbClr val="83BDC0"/>
                </a:solidFill>
                <a:latin typeface="Lato Bold"/>
                <a:ea typeface="Lato Bold"/>
                <a:cs typeface="Lato Bold"/>
                <a:sym typeface="Lato Bold"/>
              </a:rPr>
              <a:t>→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399991" y="3153094"/>
            <a:ext cx="1262948" cy="44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b="true" sz="2401">
                <a:solidFill>
                  <a:srgbClr val="83BDC0"/>
                </a:solidFill>
                <a:latin typeface="Lato Bold"/>
                <a:ea typeface="Lato Bold"/>
                <a:cs typeface="Lato Bold"/>
                <a:sym typeface="Lato Bold"/>
              </a:rPr>
              <a:t>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13717" y="4059055"/>
            <a:ext cx="2553252" cy="131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LEFT JOIN</a:t>
            </a:r>
          </a:p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SIM_*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213972" y="3829902"/>
            <a:ext cx="302076" cy="471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b="true" sz="3002">
                <a:solidFill>
                  <a:srgbClr val="83BDC0"/>
                </a:solidFill>
                <a:latin typeface="Lato Bold"/>
                <a:ea typeface="Lato Bold"/>
                <a:cs typeface="Lato Bold"/>
                <a:sym typeface="Lato Bold"/>
              </a:rPr>
              <a:t>→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927766" y="3153094"/>
            <a:ext cx="1262948" cy="44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b="true" sz="2401">
                <a:solidFill>
                  <a:srgbClr val="83BDC0"/>
                </a:solidFill>
                <a:latin typeface="Lato Bold"/>
                <a:ea typeface="Lato Bold"/>
                <a:cs typeface="Lato Bold"/>
                <a:sym typeface="Lato Bold"/>
              </a:rPr>
              <a:t>05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941491" y="4059055"/>
            <a:ext cx="2553252" cy="131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CLEAN</a:t>
            </a:r>
          </a:p>
          <a:p>
            <a:pPr algn="l">
              <a:lnSpc>
                <a:spcPts val="3062"/>
              </a:lnSpc>
            </a:pPr>
            <a:r>
              <a:rPr lang="en-US" sz="2551" b="true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0 MISSING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7946" y="7484054"/>
            <a:ext cx="1585444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Stage 2 được giữ trên 1.704 quốc gia–năm duy nhất (không dùng trực tiếp 3.104 dòng).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-759291" y="9366452"/>
            <a:ext cx="4975936" cy="920548"/>
          </a:xfrm>
          <a:custGeom>
            <a:avLst/>
            <a:gdLst/>
            <a:ahLst/>
            <a:cxnLst/>
            <a:rect r="r" b="b" t="t" l="l"/>
            <a:pathLst>
              <a:path h="920548" w="4975936">
                <a:moveTo>
                  <a:pt x="0" y="0"/>
                </a:moveTo>
                <a:lnTo>
                  <a:pt x="4975936" y="0"/>
                </a:lnTo>
                <a:lnTo>
                  <a:pt x="4975936" y="920548"/>
                </a:lnTo>
                <a:lnTo>
                  <a:pt x="0" y="920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204655" y="9366452"/>
            <a:ext cx="4975936" cy="920548"/>
          </a:xfrm>
          <a:custGeom>
            <a:avLst/>
            <a:gdLst/>
            <a:ahLst/>
            <a:cxnLst/>
            <a:rect r="r" b="b" t="t" l="l"/>
            <a:pathLst>
              <a:path h="920548" w="4975936">
                <a:moveTo>
                  <a:pt x="0" y="0"/>
                </a:moveTo>
                <a:lnTo>
                  <a:pt x="4975936" y="0"/>
                </a:lnTo>
                <a:lnTo>
                  <a:pt x="4975936" y="920548"/>
                </a:lnTo>
                <a:lnTo>
                  <a:pt x="0" y="920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168602" y="9366452"/>
            <a:ext cx="4975936" cy="920548"/>
          </a:xfrm>
          <a:custGeom>
            <a:avLst/>
            <a:gdLst/>
            <a:ahLst/>
            <a:cxnLst/>
            <a:rect r="r" b="b" t="t" l="l"/>
            <a:pathLst>
              <a:path h="920548" w="4975936">
                <a:moveTo>
                  <a:pt x="0" y="0"/>
                </a:moveTo>
                <a:lnTo>
                  <a:pt x="4975936" y="0"/>
                </a:lnTo>
                <a:lnTo>
                  <a:pt x="4975936" y="920548"/>
                </a:lnTo>
                <a:lnTo>
                  <a:pt x="0" y="920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4026159" y="9366452"/>
            <a:ext cx="4975936" cy="920548"/>
          </a:xfrm>
          <a:custGeom>
            <a:avLst/>
            <a:gdLst/>
            <a:ahLst/>
            <a:cxnLst/>
            <a:rect r="r" b="b" t="t" l="l"/>
            <a:pathLst>
              <a:path h="920548" w="4975936">
                <a:moveTo>
                  <a:pt x="0" y="0"/>
                </a:moveTo>
                <a:lnTo>
                  <a:pt x="4975936" y="0"/>
                </a:lnTo>
                <a:lnTo>
                  <a:pt x="4975936" y="920548"/>
                </a:lnTo>
                <a:lnTo>
                  <a:pt x="0" y="920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F8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380119" y="-1122988"/>
            <a:ext cx="6368012" cy="6633346"/>
          </a:xfrm>
          <a:custGeom>
            <a:avLst/>
            <a:gdLst/>
            <a:ahLst/>
            <a:cxnLst/>
            <a:rect r="r" b="b" t="t" l="l"/>
            <a:pathLst>
              <a:path h="6633346" w="6368012">
                <a:moveTo>
                  <a:pt x="0" y="0"/>
                </a:moveTo>
                <a:lnTo>
                  <a:pt x="6368012" y="0"/>
                </a:lnTo>
                <a:lnTo>
                  <a:pt x="6368012" y="6633346"/>
                </a:lnTo>
                <a:lnTo>
                  <a:pt x="0" y="6633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37265" cy="10295039"/>
            <a:chOff x="0" y="0"/>
            <a:chExt cx="183020" cy="137267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00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415E6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96147" y="1962922"/>
            <a:ext cx="16650519" cy="20593"/>
            <a:chOff x="0" y="0"/>
            <a:chExt cx="22200692" cy="274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200743" cy="27432"/>
            </a:xfrm>
            <a:custGeom>
              <a:avLst/>
              <a:gdLst/>
              <a:ahLst/>
              <a:cxnLst/>
              <a:rect r="r" b="b" t="t" l="l"/>
              <a:pathLst>
                <a:path h="27432" w="22200743">
                  <a:moveTo>
                    <a:pt x="0" y="0"/>
                  </a:moveTo>
                  <a:lnTo>
                    <a:pt x="22200743" y="0"/>
                  </a:lnTo>
                  <a:lnTo>
                    <a:pt x="2220074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284358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3421" y="2402176"/>
            <a:ext cx="5408333" cy="2017833"/>
            <a:chOff x="0" y="0"/>
            <a:chExt cx="7211111" cy="26904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11060" cy="2690368"/>
            </a:xfrm>
            <a:custGeom>
              <a:avLst/>
              <a:gdLst/>
              <a:ahLst/>
              <a:cxnLst/>
              <a:rect r="r" b="b" t="t" l="l"/>
              <a:pathLst>
                <a:path h="2690368" w="7211060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6888226" y="0"/>
                  </a:lnTo>
                  <a:cubicBezTo>
                    <a:pt x="7066534" y="0"/>
                    <a:pt x="7211060" y="144526"/>
                    <a:pt x="7211060" y="322834"/>
                  </a:cubicBezTo>
                  <a:lnTo>
                    <a:pt x="7211060" y="2367534"/>
                  </a:lnTo>
                  <a:cubicBezTo>
                    <a:pt x="7211060" y="2545842"/>
                    <a:pt x="7066534" y="2690368"/>
                    <a:pt x="6888226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537B8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657461" y="2402176"/>
            <a:ext cx="5408333" cy="2017833"/>
            <a:chOff x="0" y="0"/>
            <a:chExt cx="7211111" cy="26904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11060" cy="2690368"/>
            </a:xfrm>
            <a:custGeom>
              <a:avLst/>
              <a:gdLst/>
              <a:ahLst/>
              <a:cxnLst/>
              <a:rect r="r" b="b" t="t" l="l"/>
              <a:pathLst>
                <a:path h="2690368" w="7211060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6888226" y="0"/>
                  </a:lnTo>
                  <a:cubicBezTo>
                    <a:pt x="7066534" y="0"/>
                    <a:pt x="7211060" y="144526"/>
                    <a:pt x="7211060" y="322834"/>
                  </a:cubicBezTo>
                  <a:lnTo>
                    <a:pt x="7211060" y="2367534"/>
                  </a:lnTo>
                  <a:cubicBezTo>
                    <a:pt x="7211060" y="2545842"/>
                    <a:pt x="7066534" y="2690368"/>
                    <a:pt x="6888226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537B8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81509" y="2402176"/>
            <a:ext cx="5408333" cy="2017833"/>
            <a:chOff x="0" y="0"/>
            <a:chExt cx="7211111" cy="26904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11060" cy="2690368"/>
            </a:xfrm>
            <a:custGeom>
              <a:avLst/>
              <a:gdLst/>
              <a:ahLst/>
              <a:cxnLst/>
              <a:rect r="r" b="b" t="t" l="l"/>
              <a:pathLst>
                <a:path h="2690368" w="7211060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6888226" y="0"/>
                  </a:lnTo>
                  <a:cubicBezTo>
                    <a:pt x="7066534" y="0"/>
                    <a:pt x="7211060" y="144526"/>
                    <a:pt x="7211060" y="322834"/>
                  </a:cubicBezTo>
                  <a:lnTo>
                    <a:pt x="7211060" y="2367534"/>
                  </a:lnTo>
                  <a:cubicBezTo>
                    <a:pt x="7211060" y="2545842"/>
                    <a:pt x="7066534" y="2690368"/>
                    <a:pt x="6888226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537B8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32451" y="4839110"/>
            <a:ext cx="16472068" cy="2992422"/>
            <a:chOff x="0" y="0"/>
            <a:chExt cx="21962758" cy="39898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62745" cy="3989959"/>
            </a:xfrm>
            <a:custGeom>
              <a:avLst/>
              <a:gdLst/>
              <a:ahLst/>
              <a:cxnLst/>
              <a:rect r="r" b="b" t="t" l="l"/>
              <a:pathLst>
                <a:path h="3989959" w="21962745">
                  <a:moveTo>
                    <a:pt x="0" y="478790"/>
                  </a:moveTo>
                  <a:cubicBezTo>
                    <a:pt x="0" y="214376"/>
                    <a:pt x="214376" y="0"/>
                    <a:pt x="478790" y="0"/>
                  </a:cubicBezTo>
                  <a:lnTo>
                    <a:pt x="21483955" y="0"/>
                  </a:lnTo>
                  <a:cubicBezTo>
                    <a:pt x="21748369" y="0"/>
                    <a:pt x="21962745" y="214376"/>
                    <a:pt x="21962745" y="478790"/>
                  </a:cubicBezTo>
                  <a:lnTo>
                    <a:pt x="21962745" y="3511169"/>
                  </a:lnTo>
                  <a:cubicBezTo>
                    <a:pt x="21962745" y="3775583"/>
                    <a:pt x="21748369" y="3989959"/>
                    <a:pt x="21483955" y="3989959"/>
                  </a:cubicBezTo>
                  <a:lnTo>
                    <a:pt x="478790" y="3989959"/>
                  </a:lnTo>
                  <a:cubicBezTo>
                    <a:pt x="214376" y="3989959"/>
                    <a:pt x="0" y="3775583"/>
                    <a:pt x="0" y="3511169"/>
                  </a:cubicBezTo>
                  <a:close/>
                </a:path>
              </a:pathLst>
            </a:custGeom>
            <a:solidFill>
              <a:srgbClr val="36627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11858" y="8469706"/>
            <a:ext cx="16513245" cy="713794"/>
            <a:chOff x="0" y="0"/>
            <a:chExt cx="22017660" cy="9517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17610" cy="951738"/>
            </a:xfrm>
            <a:custGeom>
              <a:avLst/>
              <a:gdLst/>
              <a:ahLst/>
              <a:cxnLst/>
              <a:rect r="r" b="b" t="t" l="l"/>
              <a:pathLst>
                <a:path h="951738" w="2201761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21903437" y="0"/>
                  </a:lnTo>
                  <a:cubicBezTo>
                    <a:pt x="21966555" y="0"/>
                    <a:pt x="22017610" y="51181"/>
                    <a:pt x="22017610" y="114173"/>
                  </a:cubicBezTo>
                  <a:lnTo>
                    <a:pt x="22017610" y="837565"/>
                  </a:lnTo>
                  <a:cubicBezTo>
                    <a:pt x="22017610" y="900684"/>
                    <a:pt x="21966428" y="951738"/>
                    <a:pt x="21903437" y="951738"/>
                  </a:cubicBezTo>
                  <a:lnTo>
                    <a:pt x="114173" y="951738"/>
                  </a:lnTo>
                  <a:cubicBezTo>
                    <a:pt x="51181" y="951738"/>
                    <a:pt x="0" y="900557"/>
                    <a:pt x="0" y="837565"/>
                  </a:cubicBezTo>
                  <a:close/>
                </a:path>
              </a:pathLst>
            </a:custGeom>
            <a:solidFill>
              <a:srgbClr val="224652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6018" y="8879281"/>
            <a:ext cx="2252865" cy="1498156"/>
          </a:xfrm>
          <a:custGeom>
            <a:avLst/>
            <a:gdLst/>
            <a:ahLst/>
            <a:cxnLst/>
            <a:rect r="r" b="b" t="t" l="l"/>
            <a:pathLst>
              <a:path h="1498156" w="2252865">
                <a:moveTo>
                  <a:pt x="0" y="0"/>
                </a:moveTo>
                <a:lnTo>
                  <a:pt x="2252866" y="0"/>
                </a:lnTo>
                <a:lnTo>
                  <a:pt x="2252866" y="1498156"/>
                </a:lnTo>
                <a:lnTo>
                  <a:pt x="0" y="14981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710885" y="177527"/>
            <a:ext cx="7315200" cy="512064"/>
          </a:xfrm>
          <a:custGeom>
            <a:avLst/>
            <a:gdLst/>
            <a:ahLst/>
            <a:cxnLst/>
            <a:rect r="r" b="b" t="t" l="l"/>
            <a:pathLst>
              <a:path h="512064" w="7315200">
                <a:moveTo>
                  <a:pt x="0" y="0"/>
                </a:moveTo>
                <a:lnTo>
                  <a:pt x="7315200" y="0"/>
                </a:lnTo>
                <a:lnTo>
                  <a:pt x="7315200" y="512064"/>
                </a:lnTo>
                <a:lnTo>
                  <a:pt x="0" y="5120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878610" y="10081817"/>
            <a:ext cx="7315200" cy="329184"/>
          </a:xfrm>
          <a:custGeom>
            <a:avLst/>
            <a:gdLst/>
            <a:ahLst/>
            <a:cxnLst/>
            <a:rect r="r" b="b" t="t" l="l"/>
            <a:pathLst>
              <a:path h="329184" w="7315200">
                <a:moveTo>
                  <a:pt x="0" y="0"/>
                </a:moveTo>
                <a:lnTo>
                  <a:pt x="7315200" y="0"/>
                </a:lnTo>
                <a:lnTo>
                  <a:pt x="731520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82384" y="956291"/>
            <a:ext cx="16774144" cy="73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b="true" sz="4053">
                <a:solidFill>
                  <a:srgbClr val="254E5C"/>
                </a:solidFill>
                <a:latin typeface="Lato Bold"/>
                <a:ea typeface="Lato Bold"/>
                <a:cs typeface="Lato Bold"/>
                <a:sym typeface="Lato Bold"/>
              </a:rPr>
              <a:t>Đối chiếu nguồn cho thấy sai khác đo lường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9089" y="2607697"/>
            <a:ext cx="477698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b="true" sz="180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CẶP SO SÁNH HỢP LỆ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5364" y="3083928"/>
            <a:ext cx="4804439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1.394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5364" y="3870550"/>
            <a:ext cx="4818164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83BDC0"/>
                </a:solidFill>
                <a:latin typeface="Lato"/>
                <a:ea typeface="Lato"/>
                <a:cs typeface="Lato"/>
                <a:sym typeface="Lato"/>
              </a:rPr>
              <a:t>Theo ISO3 + year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73129" y="2607697"/>
            <a:ext cx="477698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b="true" sz="180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MAE GIỮA HAI NGUỒN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59403" y="3083928"/>
            <a:ext cx="4804439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1,795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59403" y="3870550"/>
            <a:ext cx="4818164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83BDC0"/>
                </a:solidFill>
                <a:latin typeface="Lato"/>
                <a:ea typeface="Lato"/>
                <a:cs typeface="Lato"/>
                <a:sym typeface="Lato"/>
              </a:rPr>
              <a:t>Đơn vị: năm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97177" y="2607697"/>
            <a:ext cx="477698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b="true" sz="180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CHÊNH LỆCH &gt; 5 NĂM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83452" y="3083928"/>
            <a:ext cx="4804439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113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683452" y="3870550"/>
            <a:ext cx="4818164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83BDC0"/>
                </a:solidFill>
                <a:latin typeface="Lato"/>
                <a:ea typeface="Lato"/>
                <a:cs typeface="Lato"/>
                <a:sym typeface="Lato"/>
              </a:rPr>
              <a:t>Cần điều tra riêng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48119" y="5095342"/>
            <a:ext cx="1584072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83BDC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VÍ DỤ KHÁC BIỆT LỚN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06951" y="6038317"/>
            <a:ext cx="13923069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Rwanda 1992: 20,798 năm  -  Bosnia 1992: 20,211 năm  -  Cambodia 1977: 19,925 năm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41252" y="8620325"/>
            <a:ext cx="1585444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Không lấy trung bình hai nguồn hoặc suy luận nguồn sai nếu chưa kiểm tra phương pháp.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9193810" y="10048253"/>
            <a:ext cx="7315200" cy="329184"/>
          </a:xfrm>
          <a:custGeom>
            <a:avLst/>
            <a:gdLst/>
            <a:ahLst/>
            <a:cxnLst/>
            <a:rect r="r" b="b" t="t" l="l"/>
            <a:pathLst>
              <a:path h="329184" w="7315200">
                <a:moveTo>
                  <a:pt x="0" y="0"/>
                </a:moveTo>
                <a:lnTo>
                  <a:pt x="7315200" y="0"/>
                </a:lnTo>
                <a:lnTo>
                  <a:pt x="731520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6509010" y="10014688"/>
            <a:ext cx="7315200" cy="329184"/>
          </a:xfrm>
          <a:custGeom>
            <a:avLst/>
            <a:gdLst/>
            <a:ahLst/>
            <a:cxnLst/>
            <a:rect r="r" b="b" t="t" l="l"/>
            <a:pathLst>
              <a:path h="329184" w="7315200">
                <a:moveTo>
                  <a:pt x="0" y="0"/>
                </a:moveTo>
                <a:lnTo>
                  <a:pt x="7315200" y="0"/>
                </a:lnTo>
                <a:lnTo>
                  <a:pt x="731520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F8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-723384">
            <a:off x="-107573" y="5267728"/>
            <a:ext cx="13475165" cy="5524817"/>
          </a:xfrm>
          <a:custGeom>
            <a:avLst/>
            <a:gdLst/>
            <a:ahLst/>
            <a:cxnLst/>
            <a:rect r="r" b="b" t="t" l="l"/>
            <a:pathLst>
              <a:path h="5524817" w="13475165">
                <a:moveTo>
                  <a:pt x="0" y="0"/>
                </a:moveTo>
                <a:lnTo>
                  <a:pt x="13475165" y="0"/>
                </a:lnTo>
                <a:lnTo>
                  <a:pt x="13475165" y="5524818"/>
                </a:lnTo>
                <a:lnTo>
                  <a:pt x="0" y="55248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96147" y="1962922"/>
            <a:ext cx="16650519" cy="20593"/>
            <a:chOff x="0" y="0"/>
            <a:chExt cx="22200692" cy="274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00743" cy="27432"/>
            </a:xfrm>
            <a:custGeom>
              <a:avLst/>
              <a:gdLst/>
              <a:ahLst/>
              <a:cxnLst/>
              <a:rect r="r" b="b" t="t" l="l"/>
              <a:pathLst>
                <a:path h="27432" w="22200743">
                  <a:moveTo>
                    <a:pt x="0" y="0"/>
                  </a:moveTo>
                  <a:lnTo>
                    <a:pt x="22200743" y="0"/>
                  </a:lnTo>
                  <a:lnTo>
                    <a:pt x="2220074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28435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47147" y="2470814"/>
            <a:ext cx="5353421" cy="2017833"/>
            <a:chOff x="0" y="0"/>
            <a:chExt cx="7137895" cy="26904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37908" cy="2690368"/>
            </a:xfrm>
            <a:custGeom>
              <a:avLst/>
              <a:gdLst/>
              <a:ahLst/>
              <a:cxnLst/>
              <a:rect r="r" b="b" t="t" l="l"/>
              <a:pathLst>
                <a:path h="2690368" w="7137908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6815074" y="0"/>
                  </a:lnTo>
                  <a:cubicBezTo>
                    <a:pt x="6993382" y="0"/>
                    <a:pt x="7137908" y="144526"/>
                    <a:pt x="7137908" y="322834"/>
                  </a:cubicBezTo>
                  <a:lnTo>
                    <a:pt x="7137908" y="2367534"/>
                  </a:lnTo>
                  <a:cubicBezTo>
                    <a:pt x="7137908" y="2545842"/>
                    <a:pt x="6993382" y="2690368"/>
                    <a:pt x="6815074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537B8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30010" y="2470814"/>
            <a:ext cx="5353421" cy="2017833"/>
            <a:chOff x="0" y="0"/>
            <a:chExt cx="7137895" cy="26904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37908" cy="2690368"/>
            </a:xfrm>
            <a:custGeom>
              <a:avLst/>
              <a:gdLst/>
              <a:ahLst/>
              <a:cxnLst/>
              <a:rect r="r" b="b" t="t" l="l"/>
              <a:pathLst>
                <a:path h="2690368" w="7137908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6815074" y="0"/>
                  </a:lnTo>
                  <a:cubicBezTo>
                    <a:pt x="6993382" y="0"/>
                    <a:pt x="7137908" y="144526"/>
                    <a:pt x="7137908" y="322834"/>
                  </a:cubicBezTo>
                  <a:lnTo>
                    <a:pt x="7137908" y="2367534"/>
                  </a:lnTo>
                  <a:cubicBezTo>
                    <a:pt x="7137908" y="2545842"/>
                    <a:pt x="6993382" y="2690368"/>
                    <a:pt x="6815074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537B8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299147" y="2470814"/>
            <a:ext cx="5078892" cy="2017833"/>
            <a:chOff x="0" y="0"/>
            <a:chExt cx="6771856" cy="26904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71894" cy="2690368"/>
            </a:xfrm>
            <a:custGeom>
              <a:avLst/>
              <a:gdLst/>
              <a:ahLst/>
              <a:cxnLst/>
              <a:rect r="r" b="b" t="t" l="l"/>
              <a:pathLst>
                <a:path h="2690368" w="6771894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6449060" y="0"/>
                  </a:lnTo>
                  <a:cubicBezTo>
                    <a:pt x="6627368" y="0"/>
                    <a:pt x="6771894" y="144526"/>
                    <a:pt x="6771894" y="322834"/>
                  </a:cubicBezTo>
                  <a:lnTo>
                    <a:pt x="6771894" y="2367534"/>
                  </a:lnTo>
                  <a:cubicBezTo>
                    <a:pt x="6771894" y="2545842"/>
                    <a:pt x="6627368" y="2690368"/>
                    <a:pt x="6449060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537B8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60872" y="5010255"/>
            <a:ext cx="8098765" cy="3019882"/>
            <a:chOff x="0" y="0"/>
            <a:chExt cx="10798353" cy="40265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98428" cy="4026535"/>
            </a:xfrm>
            <a:custGeom>
              <a:avLst/>
              <a:gdLst/>
              <a:ahLst/>
              <a:cxnLst/>
              <a:rect r="r" b="b" t="t" l="l"/>
              <a:pathLst>
                <a:path h="4026535" w="10798428">
                  <a:moveTo>
                    <a:pt x="0" y="483235"/>
                  </a:moveTo>
                  <a:cubicBezTo>
                    <a:pt x="0" y="216281"/>
                    <a:pt x="216281" y="0"/>
                    <a:pt x="483235" y="0"/>
                  </a:cubicBezTo>
                  <a:lnTo>
                    <a:pt x="10315194" y="0"/>
                  </a:lnTo>
                  <a:cubicBezTo>
                    <a:pt x="10582021" y="0"/>
                    <a:pt x="10798428" y="216281"/>
                    <a:pt x="10798428" y="483235"/>
                  </a:cubicBezTo>
                  <a:lnTo>
                    <a:pt x="10798428" y="3543300"/>
                  </a:lnTo>
                  <a:cubicBezTo>
                    <a:pt x="10798428" y="3810127"/>
                    <a:pt x="10582148" y="4026535"/>
                    <a:pt x="10315194" y="4026535"/>
                  </a:cubicBezTo>
                  <a:lnTo>
                    <a:pt x="483235" y="4026535"/>
                  </a:lnTo>
                  <a:cubicBezTo>
                    <a:pt x="216281" y="4026535"/>
                    <a:pt x="0" y="3810127"/>
                    <a:pt x="0" y="3543300"/>
                  </a:cubicBezTo>
                  <a:close/>
                </a:path>
              </a:pathLst>
            </a:custGeom>
            <a:solidFill>
              <a:srgbClr val="415E6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20441" y="5010255"/>
            <a:ext cx="8030137" cy="3019882"/>
            <a:chOff x="0" y="0"/>
            <a:chExt cx="10706849" cy="40265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06862" cy="4026535"/>
            </a:xfrm>
            <a:custGeom>
              <a:avLst/>
              <a:gdLst/>
              <a:ahLst/>
              <a:cxnLst/>
              <a:rect r="r" b="b" t="t" l="l"/>
              <a:pathLst>
                <a:path h="4026535" w="10706862">
                  <a:moveTo>
                    <a:pt x="0" y="483235"/>
                  </a:moveTo>
                  <a:cubicBezTo>
                    <a:pt x="0" y="216281"/>
                    <a:pt x="216281" y="0"/>
                    <a:pt x="483235" y="0"/>
                  </a:cubicBezTo>
                  <a:lnTo>
                    <a:pt x="10223627" y="0"/>
                  </a:lnTo>
                  <a:cubicBezTo>
                    <a:pt x="10490454" y="0"/>
                    <a:pt x="10706862" y="216281"/>
                    <a:pt x="10706862" y="483235"/>
                  </a:cubicBezTo>
                  <a:lnTo>
                    <a:pt x="10706862" y="3543300"/>
                  </a:lnTo>
                  <a:cubicBezTo>
                    <a:pt x="10706862" y="3810127"/>
                    <a:pt x="10490581" y="4026535"/>
                    <a:pt x="10223627" y="4026535"/>
                  </a:cubicBezTo>
                  <a:lnTo>
                    <a:pt x="483235" y="4026535"/>
                  </a:lnTo>
                  <a:cubicBezTo>
                    <a:pt x="216281" y="4026535"/>
                    <a:pt x="0" y="3810127"/>
                    <a:pt x="0" y="3543300"/>
                  </a:cubicBezTo>
                  <a:close/>
                </a:path>
              </a:pathLst>
            </a:custGeom>
            <a:solidFill>
              <a:srgbClr val="415E6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64784" y="8620382"/>
            <a:ext cx="16513245" cy="713794"/>
            <a:chOff x="0" y="0"/>
            <a:chExt cx="22017660" cy="9517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17610" cy="951738"/>
            </a:xfrm>
            <a:custGeom>
              <a:avLst/>
              <a:gdLst/>
              <a:ahLst/>
              <a:cxnLst/>
              <a:rect r="r" b="b" t="t" l="l"/>
              <a:pathLst>
                <a:path h="951738" w="2201761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21903437" y="0"/>
                  </a:lnTo>
                  <a:cubicBezTo>
                    <a:pt x="21966555" y="0"/>
                    <a:pt x="22017610" y="51181"/>
                    <a:pt x="22017610" y="114173"/>
                  </a:cubicBezTo>
                  <a:lnTo>
                    <a:pt x="22017610" y="837565"/>
                  </a:lnTo>
                  <a:cubicBezTo>
                    <a:pt x="22017610" y="900684"/>
                    <a:pt x="21966428" y="951738"/>
                    <a:pt x="21903437" y="951738"/>
                  </a:cubicBezTo>
                  <a:lnTo>
                    <a:pt x="114173" y="951738"/>
                  </a:lnTo>
                  <a:cubicBezTo>
                    <a:pt x="51181" y="951738"/>
                    <a:pt x="0" y="900557"/>
                    <a:pt x="0" y="837565"/>
                  </a:cubicBezTo>
                  <a:close/>
                </a:path>
              </a:pathLst>
            </a:custGeom>
            <a:solidFill>
              <a:srgbClr val="224652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418704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96147" y="753247"/>
            <a:ext cx="1677414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254E5C"/>
                </a:solidFill>
                <a:latin typeface="Lato Bold"/>
                <a:ea typeface="Lato Bold"/>
                <a:cs typeface="Lato Bold"/>
                <a:sym typeface="Lato Bold"/>
              </a:rPr>
              <a:t>Missing Values - có nguồn, có chiến lược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2815" y="2676335"/>
            <a:ext cx="472207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THIẾU MÔ PHỎNG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9089" y="3152565"/>
            <a:ext cx="4749536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690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9089" y="3939188"/>
            <a:ext cx="4763262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83BDC0"/>
                </a:solidFill>
                <a:latin typeface="Lato"/>
                <a:ea typeface="Lato"/>
                <a:cs typeface="Lato"/>
                <a:sym typeface="Lato"/>
              </a:rPr>
              <a:t>Trước khi xử lý đa nguồn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45678" y="2676335"/>
            <a:ext cx="472207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b="true" sz="180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TUỔI THỌ WB THIẾU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31952" y="3152565"/>
            <a:ext cx="4749536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31952" y="3939188"/>
            <a:ext cx="4763262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83BDC0"/>
                </a:solidFill>
                <a:latin typeface="Lato"/>
                <a:ea typeface="Lato"/>
                <a:cs typeface="Lato"/>
                <a:sym typeface="Lato"/>
              </a:rPr>
              <a:t>Bù từ Gapminder, có audit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14815" y="2676335"/>
            <a:ext cx="444754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b="true" sz="180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SAU LÀM SẠCH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59913" y="3152565"/>
            <a:ext cx="4474997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01089" y="3939188"/>
            <a:ext cx="4488723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83BDC0"/>
                </a:solidFill>
                <a:latin typeface="Lato"/>
                <a:ea typeface="Lato"/>
                <a:cs typeface="Lato"/>
                <a:sym typeface="Lato"/>
              </a:rPr>
              <a:t>Missing remaining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6541" y="5266477"/>
            <a:ext cx="7467419" cy="47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5D4BB"/>
                </a:solidFill>
                <a:latin typeface="Lato Bold"/>
                <a:ea typeface="Lato Bold"/>
                <a:cs typeface="Lato Bold"/>
                <a:sym typeface="Lato Bold"/>
              </a:rPr>
              <a:t>NUMERICAL + TIME SERIES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76540" y="5966546"/>
            <a:ext cx="746741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Median theo châu lục - ffill/bfill trong từng quốc gia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36119" y="5266477"/>
            <a:ext cx="7398791" cy="47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5D4BB"/>
                </a:solidFill>
                <a:latin typeface="Lato Bold"/>
                <a:ea typeface="Lato Bold"/>
                <a:cs typeface="Lato Bold"/>
                <a:sym typeface="Lato Bold"/>
              </a:rPr>
              <a:t>CATEGORICAL + PROVENANCE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36119" y="5966546"/>
            <a:ext cx="739879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Unknown - giữ bản gốc &amp; cột nguồn khi imputation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4178" y="8770991"/>
            <a:ext cx="1585444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3.104 dòng theo nguồn;  1.704 country–year duy nhất;  VALIDATION PASS.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F8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3118205" y="145808"/>
            <a:ext cx="5183635" cy="5002208"/>
          </a:xfrm>
          <a:custGeom>
            <a:avLst/>
            <a:gdLst/>
            <a:ahLst/>
            <a:cxnLst/>
            <a:rect r="r" b="b" t="t" l="l"/>
            <a:pathLst>
              <a:path h="5002208" w="5183635">
                <a:moveTo>
                  <a:pt x="0" y="0"/>
                </a:moveTo>
                <a:lnTo>
                  <a:pt x="5183635" y="0"/>
                </a:lnTo>
                <a:lnTo>
                  <a:pt x="5183635" y="5002208"/>
                </a:lnTo>
                <a:lnTo>
                  <a:pt x="0" y="5002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37265" cy="10295039"/>
            <a:chOff x="0" y="0"/>
            <a:chExt cx="183020" cy="137267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00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415E6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9686" y="2319814"/>
            <a:ext cx="16472068" cy="6479010"/>
            <a:chOff x="0" y="0"/>
            <a:chExt cx="21962758" cy="86386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872" cy="8638794"/>
            </a:xfrm>
            <a:custGeom>
              <a:avLst/>
              <a:gdLst/>
              <a:ahLst/>
              <a:cxnLst/>
              <a:rect r="r" b="b" t="t" l="l"/>
              <a:pathLst>
                <a:path h="8638794" w="21962872">
                  <a:moveTo>
                    <a:pt x="0" y="1036701"/>
                  </a:moveTo>
                  <a:cubicBezTo>
                    <a:pt x="0" y="464058"/>
                    <a:pt x="464058" y="0"/>
                    <a:pt x="1036701" y="0"/>
                  </a:cubicBezTo>
                  <a:lnTo>
                    <a:pt x="20926171" y="0"/>
                  </a:lnTo>
                  <a:cubicBezTo>
                    <a:pt x="21498686" y="0"/>
                    <a:pt x="21962872" y="464058"/>
                    <a:pt x="21962872" y="1036701"/>
                  </a:cubicBezTo>
                  <a:lnTo>
                    <a:pt x="21962872" y="7602093"/>
                  </a:lnTo>
                  <a:cubicBezTo>
                    <a:pt x="21962872" y="8174610"/>
                    <a:pt x="21498813" y="8638794"/>
                    <a:pt x="20926171" y="8638794"/>
                  </a:cubicBezTo>
                  <a:lnTo>
                    <a:pt x="1036701" y="8638794"/>
                  </a:lnTo>
                  <a:cubicBezTo>
                    <a:pt x="464058" y="8638667"/>
                    <a:pt x="0" y="8174609"/>
                    <a:pt x="0" y="7602093"/>
                  </a:cubicBezTo>
                  <a:close/>
                </a:path>
              </a:pathLst>
            </a:custGeom>
            <a:solidFill>
              <a:srgbClr val="537B87">
                <a:alpha val="81961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84412" y="3978602"/>
            <a:ext cx="16142627" cy="3696786"/>
            <a:chOff x="0" y="0"/>
            <a:chExt cx="21523503" cy="4929048"/>
          </a:xfrm>
        </p:grpSpPr>
        <p:sp>
          <p:nvSpPr>
            <p:cNvPr name="Freeform 10" id="10" descr="image(20261010-140942).png"/>
            <p:cNvSpPr/>
            <p:nvPr/>
          </p:nvSpPr>
          <p:spPr>
            <a:xfrm flipH="false" flipV="false" rot="0">
              <a:off x="0" y="0"/>
              <a:ext cx="21523452" cy="4928997"/>
            </a:xfrm>
            <a:custGeom>
              <a:avLst/>
              <a:gdLst/>
              <a:ahLst/>
              <a:cxnLst/>
              <a:rect r="r" b="b" t="t" l="l"/>
              <a:pathLst>
                <a:path h="4928997" w="21523452">
                  <a:moveTo>
                    <a:pt x="0" y="0"/>
                  </a:moveTo>
                  <a:lnTo>
                    <a:pt x="21523452" y="0"/>
                  </a:lnTo>
                  <a:lnTo>
                    <a:pt x="21523452" y="4928997"/>
                  </a:lnTo>
                  <a:lnTo>
                    <a:pt x="0" y="4928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041178" y="3293401"/>
            <a:ext cx="6229104" cy="685201"/>
          </a:xfrm>
          <a:custGeom>
            <a:avLst/>
            <a:gdLst/>
            <a:ahLst/>
            <a:cxnLst/>
            <a:rect r="r" b="b" t="t" l="l"/>
            <a:pathLst>
              <a:path h="685201" w="6229104">
                <a:moveTo>
                  <a:pt x="0" y="0"/>
                </a:moveTo>
                <a:lnTo>
                  <a:pt x="6229104" y="0"/>
                </a:lnTo>
                <a:lnTo>
                  <a:pt x="6229104" y="685201"/>
                </a:lnTo>
                <a:lnTo>
                  <a:pt x="0" y="6852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662331" y="7838059"/>
            <a:ext cx="6986799" cy="279472"/>
          </a:xfrm>
          <a:custGeom>
            <a:avLst/>
            <a:gdLst/>
            <a:ahLst/>
            <a:cxnLst/>
            <a:rect r="r" b="b" t="t" l="l"/>
            <a:pathLst>
              <a:path h="279472" w="6986799">
                <a:moveTo>
                  <a:pt x="0" y="0"/>
                </a:moveTo>
                <a:lnTo>
                  <a:pt x="6986799" y="0"/>
                </a:lnTo>
                <a:lnTo>
                  <a:pt x="6986799" y="279472"/>
                </a:lnTo>
                <a:lnTo>
                  <a:pt x="0" y="2794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68658" y="905647"/>
            <a:ext cx="1677414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254E5C"/>
                </a:solidFill>
                <a:latin typeface="Lato Bold"/>
                <a:ea typeface="Lato Bold"/>
                <a:cs typeface="Lato Bold"/>
                <a:sym typeface="Lato Bold"/>
              </a:rPr>
              <a:t>Data validation trên máy nhóm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9180" y="2637387"/>
            <a:ext cx="713618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F1F8FA"/>
                </a:solidFill>
                <a:latin typeface="Lato Bold"/>
                <a:ea typeface="Lato Bold"/>
                <a:cs typeface="Lato Bold"/>
                <a:sym typeface="Lato Bold"/>
              </a:rPr>
              <a:t>VALIDATION PASS - 3.104 rows / 0 missing / 0 conflicts</a:t>
            </a:r>
          </a:p>
        </p:txBody>
      </p:sp>
      <p:sp>
        <p:nvSpPr>
          <p:cNvPr name="AutoShape 15" id="15"/>
          <p:cNvSpPr/>
          <p:nvPr/>
        </p:nvSpPr>
        <p:spPr>
          <a:xfrm>
            <a:off x="9289250" y="1286647"/>
            <a:ext cx="3583293" cy="0"/>
          </a:xfrm>
          <a:prstGeom prst="line">
            <a:avLst/>
          </a:prstGeom>
          <a:ln cap="flat" w="38100">
            <a:solidFill>
              <a:srgbClr val="537B87">
                <a:alpha val="7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37265" y="1267597"/>
            <a:ext cx="576802" cy="0"/>
          </a:xfrm>
          <a:prstGeom prst="line">
            <a:avLst/>
          </a:prstGeom>
          <a:ln cap="flat" w="38100">
            <a:solidFill>
              <a:srgbClr val="537B87">
                <a:alpha val="71765"/>
              </a:srgbClr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F8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847559" y="-325026"/>
            <a:ext cx="9752291" cy="9264677"/>
          </a:xfrm>
          <a:custGeom>
            <a:avLst/>
            <a:gdLst/>
            <a:ahLst/>
            <a:cxnLst/>
            <a:rect r="r" b="b" t="t" l="l"/>
            <a:pathLst>
              <a:path h="9264677" w="9752291">
                <a:moveTo>
                  <a:pt x="0" y="0"/>
                </a:moveTo>
                <a:lnTo>
                  <a:pt x="9752292" y="0"/>
                </a:lnTo>
                <a:lnTo>
                  <a:pt x="9752292" y="9264677"/>
                </a:lnTo>
                <a:lnTo>
                  <a:pt x="0" y="9264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9542" y="2973732"/>
            <a:ext cx="4904914" cy="3056941"/>
            <a:chOff x="0" y="0"/>
            <a:chExt cx="10395699" cy="64790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95713" cy="6479032"/>
            </a:xfrm>
            <a:custGeom>
              <a:avLst/>
              <a:gdLst/>
              <a:ahLst/>
              <a:cxnLst/>
              <a:rect r="r" b="b" t="t" l="l"/>
              <a:pathLst>
                <a:path h="6479032" w="10395713">
                  <a:moveTo>
                    <a:pt x="0" y="777494"/>
                  </a:moveTo>
                  <a:cubicBezTo>
                    <a:pt x="0" y="348107"/>
                    <a:pt x="348107" y="0"/>
                    <a:pt x="777494" y="0"/>
                  </a:cubicBezTo>
                  <a:lnTo>
                    <a:pt x="9618218" y="0"/>
                  </a:lnTo>
                  <a:cubicBezTo>
                    <a:pt x="10047605" y="0"/>
                    <a:pt x="10395713" y="348107"/>
                    <a:pt x="10395713" y="777494"/>
                  </a:cubicBezTo>
                  <a:lnTo>
                    <a:pt x="10395713" y="5701538"/>
                  </a:lnTo>
                  <a:cubicBezTo>
                    <a:pt x="10395713" y="6130925"/>
                    <a:pt x="10047605" y="6479032"/>
                    <a:pt x="9618218" y="6479032"/>
                  </a:cubicBezTo>
                  <a:lnTo>
                    <a:pt x="777494" y="6479032"/>
                  </a:lnTo>
                  <a:cubicBezTo>
                    <a:pt x="348107" y="6479032"/>
                    <a:pt x="0" y="6130925"/>
                    <a:pt x="0" y="5701538"/>
                  </a:cubicBezTo>
                  <a:close/>
                </a:path>
              </a:pathLst>
            </a:custGeom>
            <a:solidFill>
              <a:srgbClr val="70A7B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89542" y="6486780"/>
            <a:ext cx="4904914" cy="2855823"/>
            <a:chOff x="0" y="0"/>
            <a:chExt cx="11127804" cy="64790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27740" cy="6479032"/>
            </a:xfrm>
            <a:custGeom>
              <a:avLst/>
              <a:gdLst/>
              <a:ahLst/>
              <a:cxnLst/>
              <a:rect r="r" b="b" t="t" l="l"/>
              <a:pathLst>
                <a:path h="6479032" w="11127740">
                  <a:moveTo>
                    <a:pt x="0" y="777494"/>
                  </a:moveTo>
                  <a:cubicBezTo>
                    <a:pt x="0" y="348107"/>
                    <a:pt x="348107" y="0"/>
                    <a:pt x="777494" y="0"/>
                  </a:cubicBezTo>
                  <a:lnTo>
                    <a:pt x="10350373" y="0"/>
                  </a:lnTo>
                  <a:cubicBezTo>
                    <a:pt x="10779760" y="0"/>
                    <a:pt x="11127740" y="348107"/>
                    <a:pt x="11127740" y="777494"/>
                  </a:cubicBezTo>
                  <a:lnTo>
                    <a:pt x="11127740" y="5701538"/>
                  </a:lnTo>
                  <a:cubicBezTo>
                    <a:pt x="11127740" y="6130925"/>
                    <a:pt x="10779633" y="6479032"/>
                    <a:pt x="10350247" y="6479032"/>
                  </a:cubicBezTo>
                  <a:lnTo>
                    <a:pt x="777494" y="6479032"/>
                  </a:lnTo>
                  <a:cubicBezTo>
                    <a:pt x="348107" y="6479032"/>
                    <a:pt x="0" y="6130925"/>
                    <a:pt x="0" y="5701538"/>
                  </a:cubicBezTo>
                  <a:close/>
                </a:path>
              </a:pathLst>
            </a:custGeom>
            <a:solidFill>
              <a:srgbClr val="70A7B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379015" y="2634745"/>
            <a:ext cx="12704982" cy="7046845"/>
            <a:chOff x="0" y="0"/>
            <a:chExt cx="11825333" cy="65589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25324" cy="6558985"/>
            </a:xfrm>
            <a:custGeom>
              <a:avLst/>
              <a:gdLst/>
              <a:ahLst/>
              <a:cxnLst/>
              <a:rect r="r" b="b" t="t" l="l"/>
              <a:pathLst>
                <a:path h="6558985" w="11825324">
                  <a:moveTo>
                    <a:pt x="0" y="787147"/>
                  </a:moveTo>
                  <a:cubicBezTo>
                    <a:pt x="0" y="352537"/>
                    <a:pt x="88117" y="0"/>
                    <a:pt x="196748" y="0"/>
                  </a:cubicBezTo>
                  <a:lnTo>
                    <a:pt x="11628575" y="0"/>
                  </a:lnTo>
                  <a:cubicBezTo>
                    <a:pt x="11737207" y="0"/>
                    <a:pt x="11825324" y="352537"/>
                    <a:pt x="11825324" y="787147"/>
                  </a:cubicBezTo>
                  <a:lnTo>
                    <a:pt x="11825324" y="5771912"/>
                  </a:lnTo>
                  <a:cubicBezTo>
                    <a:pt x="11825324" y="6206521"/>
                    <a:pt x="11737207" y="6558985"/>
                    <a:pt x="11628575" y="6558985"/>
                  </a:cubicBezTo>
                  <a:lnTo>
                    <a:pt x="196748" y="6558985"/>
                  </a:lnTo>
                  <a:cubicBezTo>
                    <a:pt x="88117" y="6558985"/>
                    <a:pt x="0" y="6206521"/>
                    <a:pt x="0" y="5771912"/>
                  </a:cubicBezTo>
                  <a:close/>
                </a:path>
              </a:pathLst>
            </a:custGeom>
            <a:solidFill>
              <a:srgbClr val="70A7B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594470" y="4208415"/>
            <a:ext cx="12274072" cy="3518118"/>
            <a:chOff x="0" y="0"/>
            <a:chExt cx="6129922" cy="1757020"/>
          </a:xfrm>
        </p:grpSpPr>
        <p:sp>
          <p:nvSpPr>
            <p:cNvPr name="Freeform 12" id="12" descr="05_Stage1_ChromaDB_Success.png"/>
            <p:cNvSpPr/>
            <p:nvPr/>
          </p:nvSpPr>
          <p:spPr>
            <a:xfrm flipH="false" flipV="false" rot="0">
              <a:off x="0" y="0"/>
              <a:ext cx="6129909" cy="1757045"/>
            </a:xfrm>
            <a:custGeom>
              <a:avLst/>
              <a:gdLst/>
              <a:ahLst/>
              <a:cxnLst/>
              <a:rect r="r" b="b" t="t" l="l"/>
              <a:pathLst>
                <a:path h="1757045" w="6129909">
                  <a:moveTo>
                    <a:pt x="0" y="0"/>
                  </a:moveTo>
                  <a:lnTo>
                    <a:pt x="6129909" y="0"/>
                  </a:lnTo>
                  <a:lnTo>
                    <a:pt x="6129909" y="1757045"/>
                  </a:lnTo>
                  <a:lnTo>
                    <a:pt x="0" y="1757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379015" y="6107089"/>
            <a:ext cx="6509173" cy="3580045"/>
          </a:xfrm>
          <a:custGeom>
            <a:avLst/>
            <a:gdLst/>
            <a:ahLst/>
            <a:cxnLst/>
            <a:rect r="r" b="b" t="t" l="l"/>
            <a:pathLst>
              <a:path h="3580045" w="6509173">
                <a:moveTo>
                  <a:pt x="0" y="0"/>
                </a:moveTo>
                <a:lnTo>
                  <a:pt x="6509173" y="0"/>
                </a:lnTo>
                <a:lnTo>
                  <a:pt x="6509173" y="3580046"/>
                </a:lnTo>
                <a:lnTo>
                  <a:pt x="0" y="35800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1574824" y="2634745"/>
            <a:ext cx="6509173" cy="3580045"/>
          </a:xfrm>
          <a:custGeom>
            <a:avLst/>
            <a:gdLst/>
            <a:ahLst/>
            <a:cxnLst/>
            <a:rect r="r" b="b" t="t" l="l"/>
            <a:pathLst>
              <a:path h="3580045" w="6509173">
                <a:moveTo>
                  <a:pt x="0" y="0"/>
                </a:moveTo>
                <a:lnTo>
                  <a:pt x="6509173" y="0"/>
                </a:lnTo>
                <a:lnTo>
                  <a:pt x="6509173" y="3580045"/>
                </a:lnTo>
                <a:lnTo>
                  <a:pt x="0" y="35800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761409"/>
            <a:ext cx="7315200" cy="768096"/>
          </a:xfrm>
          <a:custGeom>
            <a:avLst/>
            <a:gdLst/>
            <a:ahLst/>
            <a:cxnLst/>
            <a:rect r="r" b="b" t="t" l="l"/>
            <a:pathLst>
              <a:path h="768096" w="7315200">
                <a:moveTo>
                  <a:pt x="0" y="0"/>
                </a:moveTo>
                <a:lnTo>
                  <a:pt x="7315200" y="0"/>
                </a:lnTo>
                <a:lnTo>
                  <a:pt x="7315200" y="768096"/>
                </a:lnTo>
                <a:lnTo>
                  <a:pt x="0" y="7680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77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30791" y="1210418"/>
            <a:ext cx="5491867" cy="329512"/>
          </a:xfrm>
          <a:custGeom>
            <a:avLst/>
            <a:gdLst/>
            <a:ahLst/>
            <a:cxnLst/>
            <a:rect r="r" b="b" t="t" l="l"/>
            <a:pathLst>
              <a:path h="329512" w="5491867">
                <a:moveTo>
                  <a:pt x="0" y="0"/>
                </a:moveTo>
                <a:lnTo>
                  <a:pt x="5491867" y="0"/>
                </a:lnTo>
                <a:lnTo>
                  <a:pt x="5491867" y="329512"/>
                </a:lnTo>
                <a:lnTo>
                  <a:pt x="0" y="3295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7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45834" y="562718"/>
            <a:ext cx="869724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254E5C"/>
                </a:solidFill>
                <a:latin typeface="Lato Bold"/>
                <a:ea typeface="Lato Bold"/>
                <a:cs typeface="Lato Bold"/>
                <a:sym typeface="Lato Bold"/>
              </a:rPr>
              <a:t>2 mô hình lưu trữ - SQL &amp; vector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6417" y="3124316"/>
            <a:ext cx="421117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B4A4F"/>
                </a:solidFill>
                <a:latin typeface="Lato Bold"/>
                <a:ea typeface="Lato Bold"/>
                <a:cs typeface="Lato Bold"/>
                <a:sym typeface="Lato Bold"/>
              </a:rPr>
              <a:t>SQLITE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6411" y="3768778"/>
            <a:ext cx="4211177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Dữ liệu có cấu trúc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master_sparse · master_clean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master_with_clusters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Round-trip đọc/ghi thành công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5068" y="6637364"/>
            <a:ext cx="453386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1B4A4F"/>
                </a:solidFill>
                <a:latin typeface="Lato Bold"/>
                <a:ea typeface="Lato Bold"/>
                <a:cs typeface="Lato Bold"/>
                <a:sym typeface="Lato Bold"/>
              </a:rPr>
              <a:t>CHROMADB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5065" y="7201787"/>
            <a:ext cx="4533868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PersistentClient / country_year_embeddings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1.704 vectors · 7 dimensions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Truy vấn nearest-neighbor đã chạy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036958" y="1199993"/>
            <a:ext cx="5491867" cy="329512"/>
          </a:xfrm>
          <a:custGeom>
            <a:avLst/>
            <a:gdLst/>
            <a:ahLst/>
            <a:cxnLst/>
            <a:rect r="r" b="b" t="t" l="l"/>
            <a:pathLst>
              <a:path h="329512" w="5491867">
                <a:moveTo>
                  <a:pt x="0" y="0"/>
                </a:moveTo>
                <a:lnTo>
                  <a:pt x="5491867" y="0"/>
                </a:lnTo>
                <a:lnTo>
                  <a:pt x="5491867" y="329512"/>
                </a:lnTo>
                <a:lnTo>
                  <a:pt x="0" y="3295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77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F8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-5400000">
            <a:off x="13958440" y="193786"/>
            <a:ext cx="4572000" cy="4114800"/>
          </a:xfrm>
          <a:custGeom>
            <a:avLst/>
            <a:gdLst/>
            <a:ahLst/>
            <a:cxnLst/>
            <a:rect r="r" b="b" t="t" l="l"/>
            <a:pathLst>
              <a:path h="4114800" w="45720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704" y="6366331"/>
            <a:ext cx="3249319" cy="3938568"/>
          </a:xfrm>
          <a:custGeom>
            <a:avLst/>
            <a:gdLst/>
            <a:ahLst/>
            <a:cxnLst/>
            <a:rect r="r" b="b" t="t" l="l"/>
            <a:pathLst>
              <a:path h="3938568" w="3249319">
                <a:moveTo>
                  <a:pt x="0" y="0"/>
                </a:moveTo>
                <a:lnTo>
                  <a:pt x="3249319" y="0"/>
                </a:lnTo>
                <a:lnTo>
                  <a:pt x="3249319" y="3938568"/>
                </a:lnTo>
                <a:lnTo>
                  <a:pt x="0" y="3938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37265" cy="10295039"/>
            <a:chOff x="0" y="0"/>
            <a:chExt cx="183020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00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B4A4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6147" y="1962922"/>
            <a:ext cx="16650519" cy="20593"/>
            <a:chOff x="0" y="0"/>
            <a:chExt cx="22200692" cy="274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00743" cy="27432"/>
            </a:xfrm>
            <a:custGeom>
              <a:avLst/>
              <a:gdLst/>
              <a:ahLst/>
              <a:cxnLst/>
              <a:rect r="r" b="b" t="t" l="l"/>
              <a:pathLst>
                <a:path h="27432" w="22200743">
                  <a:moveTo>
                    <a:pt x="0" y="0"/>
                  </a:moveTo>
                  <a:lnTo>
                    <a:pt x="22200743" y="0"/>
                  </a:lnTo>
                  <a:lnTo>
                    <a:pt x="2220074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1B4A4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2235" y="2251186"/>
            <a:ext cx="8263490" cy="5229882"/>
            <a:chOff x="0" y="0"/>
            <a:chExt cx="11017987" cy="69731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18012" cy="6973189"/>
            </a:xfrm>
            <a:custGeom>
              <a:avLst/>
              <a:gdLst/>
              <a:ahLst/>
              <a:cxnLst/>
              <a:rect r="r" b="b" t="t" l="l"/>
              <a:pathLst>
                <a:path h="6973189" w="11018012">
                  <a:moveTo>
                    <a:pt x="0" y="836803"/>
                  </a:moveTo>
                  <a:cubicBezTo>
                    <a:pt x="0" y="374650"/>
                    <a:pt x="374650" y="0"/>
                    <a:pt x="836803" y="0"/>
                  </a:cubicBezTo>
                  <a:lnTo>
                    <a:pt x="10181209" y="0"/>
                  </a:lnTo>
                  <a:cubicBezTo>
                    <a:pt x="10643362" y="0"/>
                    <a:pt x="11018012" y="374650"/>
                    <a:pt x="11018012" y="836803"/>
                  </a:cubicBezTo>
                  <a:lnTo>
                    <a:pt x="11018012" y="6136386"/>
                  </a:lnTo>
                  <a:cubicBezTo>
                    <a:pt x="11018012" y="6598539"/>
                    <a:pt x="10643362" y="6973189"/>
                    <a:pt x="10181209" y="6973189"/>
                  </a:cubicBezTo>
                  <a:lnTo>
                    <a:pt x="836803" y="6973189"/>
                  </a:lnTo>
                  <a:cubicBezTo>
                    <a:pt x="374650" y="6973189"/>
                    <a:pt x="0" y="6598539"/>
                    <a:pt x="0" y="6136386"/>
                  </a:cubicBezTo>
                  <a:close/>
                </a:path>
              </a:pathLst>
            </a:custGeom>
            <a:solidFill>
              <a:srgbClr val="70A7B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56961" y="3188065"/>
            <a:ext cx="7934049" cy="3891458"/>
            <a:chOff x="0" y="0"/>
            <a:chExt cx="10578732" cy="5188610"/>
          </a:xfrm>
        </p:grpSpPr>
        <p:sp>
          <p:nvSpPr>
            <p:cNvPr name="Freeform 13" id="13" descr="03_life_expectancy_hist_kde.png"/>
            <p:cNvSpPr/>
            <p:nvPr/>
          </p:nvSpPr>
          <p:spPr>
            <a:xfrm flipH="false" flipV="false" rot="0">
              <a:off x="0" y="0"/>
              <a:ext cx="10578719" cy="5188585"/>
            </a:xfrm>
            <a:custGeom>
              <a:avLst/>
              <a:gdLst/>
              <a:ahLst/>
              <a:cxnLst/>
              <a:rect r="r" b="b" t="t" l="l"/>
              <a:pathLst>
                <a:path h="5188585" w="10578719">
                  <a:moveTo>
                    <a:pt x="0" y="0"/>
                  </a:moveTo>
                  <a:lnTo>
                    <a:pt x="10578719" y="0"/>
                  </a:lnTo>
                  <a:lnTo>
                    <a:pt x="10578719" y="5188585"/>
                  </a:lnTo>
                  <a:lnTo>
                    <a:pt x="0" y="5188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347902" y="2251186"/>
            <a:ext cx="8071314" cy="5229882"/>
            <a:chOff x="0" y="0"/>
            <a:chExt cx="10761751" cy="69731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61726" cy="6973189"/>
            </a:xfrm>
            <a:custGeom>
              <a:avLst/>
              <a:gdLst/>
              <a:ahLst/>
              <a:cxnLst/>
              <a:rect r="r" b="b" t="t" l="l"/>
              <a:pathLst>
                <a:path h="6973189" w="10761726">
                  <a:moveTo>
                    <a:pt x="0" y="836803"/>
                  </a:moveTo>
                  <a:cubicBezTo>
                    <a:pt x="0" y="374650"/>
                    <a:pt x="374650" y="0"/>
                    <a:pt x="836803" y="0"/>
                  </a:cubicBezTo>
                  <a:lnTo>
                    <a:pt x="9924923" y="0"/>
                  </a:lnTo>
                  <a:cubicBezTo>
                    <a:pt x="10387076" y="0"/>
                    <a:pt x="10761726" y="374650"/>
                    <a:pt x="10761726" y="836803"/>
                  </a:cubicBezTo>
                  <a:lnTo>
                    <a:pt x="10761726" y="6136386"/>
                  </a:lnTo>
                  <a:cubicBezTo>
                    <a:pt x="10761726" y="6598539"/>
                    <a:pt x="10387076" y="6973189"/>
                    <a:pt x="9924923" y="6973189"/>
                  </a:cubicBezTo>
                  <a:lnTo>
                    <a:pt x="836803" y="6973189"/>
                  </a:lnTo>
                  <a:cubicBezTo>
                    <a:pt x="374650" y="6973189"/>
                    <a:pt x="0" y="6598539"/>
                    <a:pt x="0" y="6136386"/>
                  </a:cubicBezTo>
                  <a:close/>
                </a:path>
              </a:pathLst>
            </a:custGeom>
            <a:solidFill>
              <a:srgbClr val="70A7B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512618" y="3236319"/>
            <a:ext cx="7741872" cy="3794941"/>
            <a:chOff x="0" y="0"/>
            <a:chExt cx="10322496" cy="5059921"/>
          </a:xfrm>
        </p:grpSpPr>
        <p:sp>
          <p:nvSpPr>
            <p:cNvPr name="Freeform 17" id="17" descr="05_continent_bar.png"/>
            <p:cNvSpPr/>
            <p:nvPr/>
          </p:nvSpPr>
          <p:spPr>
            <a:xfrm flipH="false" flipV="false" rot="0">
              <a:off x="0" y="0"/>
              <a:ext cx="10322433" cy="5059934"/>
            </a:xfrm>
            <a:custGeom>
              <a:avLst/>
              <a:gdLst/>
              <a:ahLst/>
              <a:cxnLst/>
              <a:rect r="r" b="b" t="t" l="l"/>
              <a:pathLst>
                <a:path h="5059934" w="10322433">
                  <a:moveTo>
                    <a:pt x="0" y="0"/>
                  </a:moveTo>
                  <a:lnTo>
                    <a:pt x="10322433" y="0"/>
                  </a:lnTo>
                  <a:lnTo>
                    <a:pt x="10322433" y="5059934"/>
                  </a:lnTo>
                  <a:lnTo>
                    <a:pt x="0" y="50599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33421" y="8166868"/>
            <a:ext cx="16513245" cy="713794"/>
            <a:chOff x="0" y="0"/>
            <a:chExt cx="22017660" cy="9517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017610" cy="951738"/>
            </a:xfrm>
            <a:custGeom>
              <a:avLst/>
              <a:gdLst/>
              <a:ahLst/>
              <a:cxnLst/>
              <a:rect r="r" b="b" t="t" l="l"/>
              <a:pathLst>
                <a:path h="951738" w="2201761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21903437" y="0"/>
                  </a:lnTo>
                  <a:cubicBezTo>
                    <a:pt x="21966555" y="0"/>
                    <a:pt x="22017610" y="51181"/>
                    <a:pt x="22017610" y="114173"/>
                  </a:cubicBezTo>
                  <a:lnTo>
                    <a:pt x="22017610" y="837565"/>
                  </a:lnTo>
                  <a:cubicBezTo>
                    <a:pt x="22017610" y="900684"/>
                    <a:pt x="21966428" y="951738"/>
                    <a:pt x="21903437" y="951738"/>
                  </a:cubicBezTo>
                  <a:lnTo>
                    <a:pt x="114173" y="951738"/>
                  </a:lnTo>
                  <a:cubicBezTo>
                    <a:pt x="51181" y="951738"/>
                    <a:pt x="0" y="900557"/>
                    <a:pt x="0" y="837565"/>
                  </a:cubicBezTo>
                  <a:close/>
                </a:path>
              </a:pathLst>
            </a:custGeom>
            <a:solidFill>
              <a:srgbClr val="537B8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82383" y="956291"/>
            <a:ext cx="1677414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b="true" sz="4053">
                <a:solidFill>
                  <a:srgbClr val="254E5C"/>
                </a:solidFill>
                <a:latin typeface="Lato Bold"/>
                <a:ea typeface="Lato Bold"/>
                <a:cs typeface="Lato Bold"/>
                <a:sym typeface="Lato Bold"/>
              </a:rPr>
              <a:t>EDA - dữ liệu số và nhãn phân loại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0452" y="2429246"/>
            <a:ext cx="7687046" cy="40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b="true" sz="180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01 / AGE DISTRIBUTION + KDE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36119" y="2429246"/>
            <a:ext cx="7494880" cy="40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b="true" sz="180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02 / OBSERVATION COUNTS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2815" y="8327003"/>
            <a:ext cx="15854448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Insight: tuổi thọ trung bình lịch sử 59,47 năm; tỷ lệ quan sát giữa các vùng mất cân đối.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F8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801203" y="295701"/>
            <a:ext cx="9477730" cy="9477730"/>
          </a:xfrm>
          <a:custGeom>
            <a:avLst/>
            <a:gdLst/>
            <a:ahLst/>
            <a:cxnLst/>
            <a:rect r="r" b="b" t="t" l="l"/>
            <a:pathLst>
              <a:path h="9477730" w="9477730">
                <a:moveTo>
                  <a:pt x="0" y="0"/>
                </a:moveTo>
                <a:lnTo>
                  <a:pt x="9477731" y="0"/>
                </a:lnTo>
                <a:lnTo>
                  <a:pt x="9477731" y="9477730"/>
                </a:lnTo>
                <a:lnTo>
                  <a:pt x="0" y="9477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96142" y="1748009"/>
            <a:ext cx="16650519" cy="20593"/>
            <a:chOff x="0" y="0"/>
            <a:chExt cx="22200692" cy="274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00743" cy="27432"/>
            </a:xfrm>
            <a:custGeom>
              <a:avLst/>
              <a:gdLst/>
              <a:ahLst/>
              <a:cxnLst/>
              <a:rect r="r" b="b" t="t" l="l"/>
              <a:pathLst>
                <a:path h="27432" w="22200743">
                  <a:moveTo>
                    <a:pt x="0" y="0"/>
                  </a:moveTo>
                  <a:lnTo>
                    <a:pt x="22200743" y="0"/>
                  </a:lnTo>
                  <a:lnTo>
                    <a:pt x="2220074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28435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9686" y="2168823"/>
            <a:ext cx="8236039" cy="6739823"/>
            <a:chOff x="0" y="0"/>
            <a:chExt cx="10981385" cy="89864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81310" cy="8986393"/>
            </a:xfrm>
            <a:custGeom>
              <a:avLst/>
              <a:gdLst/>
              <a:ahLst/>
              <a:cxnLst/>
              <a:rect r="r" b="b" t="t" l="l"/>
              <a:pathLst>
                <a:path h="8986393" w="10981310">
                  <a:moveTo>
                    <a:pt x="0" y="1078357"/>
                  </a:moveTo>
                  <a:cubicBezTo>
                    <a:pt x="0" y="482854"/>
                    <a:pt x="482854" y="0"/>
                    <a:pt x="1078357" y="0"/>
                  </a:cubicBezTo>
                  <a:lnTo>
                    <a:pt x="9902952" y="0"/>
                  </a:lnTo>
                  <a:cubicBezTo>
                    <a:pt x="10498582" y="0"/>
                    <a:pt x="10981310" y="482854"/>
                    <a:pt x="10981310" y="1078357"/>
                  </a:cubicBezTo>
                  <a:lnTo>
                    <a:pt x="10981310" y="7908036"/>
                  </a:lnTo>
                  <a:cubicBezTo>
                    <a:pt x="10981310" y="8503666"/>
                    <a:pt x="10498455" y="8986393"/>
                    <a:pt x="9902952" y="8986393"/>
                  </a:cubicBezTo>
                  <a:lnTo>
                    <a:pt x="1078357" y="8986393"/>
                  </a:lnTo>
                  <a:cubicBezTo>
                    <a:pt x="482854" y="8986393"/>
                    <a:pt x="0" y="8503666"/>
                    <a:pt x="0" y="7908036"/>
                  </a:cubicBezTo>
                  <a:close/>
                </a:path>
              </a:pathLst>
            </a:custGeom>
            <a:solidFill>
              <a:srgbClr val="70A7B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09442" y="2882608"/>
            <a:ext cx="6656537" cy="5847588"/>
            <a:chOff x="0" y="0"/>
            <a:chExt cx="8875382" cy="7796784"/>
          </a:xfrm>
        </p:grpSpPr>
        <p:sp>
          <p:nvSpPr>
            <p:cNvPr name="Freeform 10" id="10" descr="06_correlation_heatmap.png"/>
            <p:cNvSpPr/>
            <p:nvPr/>
          </p:nvSpPr>
          <p:spPr>
            <a:xfrm flipH="false" flipV="false" rot="0">
              <a:off x="0" y="0"/>
              <a:ext cx="8875395" cy="7796784"/>
            </a:xfrm>
            <a:custGeom>
              <a:avLst/>
              <a:gdLst/>
              <a:ahLst/>
              <a:cxnLst/>
              <a:rect r="r" b="b" t="t" l="l"/>
              <a:pathLst>
                <a:path h="7796784" w="8875395">
                  <a:moveTo>
                    <a:pt x="0" y="0"/>
                  </a:moveTo>
                  <a:lnTo>
                    <a:pt x="8875395" y="0"/>
                  </a:lnTo>
                  <a:lnTo>
                    <a:pt x="8875395" y="7796784"/>
                  </a:lnTo>
                  <a:lnTo>
                    <a:pt x="0" y="7796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375353" y="2168823"/>
            <a:ext cx="8002676" cy="6739823"/>
            <a:chOff x="0" y="0"/>
            <a:chExt cx="10670235" cy="89864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70287" cy="8986393"/>
            </a:xfrm>
            <a:custGeom>
              <a:avLst/>
              <a:gdLst/>
              <a:ahLst/>
              <a:cxnLst/>
              <a:rect r="r" b="b" t="t" l="l"/>
              <a:pathLst>
                <a:path h="8986393" w="10670287">
                  <a:moveTo>
                    <a:pt x="0" y="1078357"/>
                  </a:moveTo>
                  <a:cubicBezTo>
                    <a:pt x="0" y="482854"/>
                    <a:pt x="482854" y="0"/>
                    <a:pt x="1078357" y="0"/>
                  </a:cubicBezTo>
                  <a:lnTo>
                    <a:pt x="9591929" y="0"/>
                  </a:lnTo>
                  <a:cubicBezTo>
                    <a:pt x="10187560" y="0"/>
                    <a:pt x="10670287" y="482854"/>
                    <a:pt x="10670287" y="1078357"/>
                  </a:cubicBezTo>
                  <a:lnTo>
                    <a:pt x="10670287" y="7908036"/>
                  </a:lnTo>
                  <a:cubicBezTo>
                    <a:pt x="10670287" y="8503666"/>
                    <a:pt x="10187432" y="8986393"/>
                    <a:pt x="9591929" y="8986393"/>
                  </a:cubicBezTo>
                  <a:lnTo>
                    <a:pt x="1078357" y="8986393"/>
                  </a:lnTo>
                  <a:cubicBezTo>
                    <a:pt x="482854" y="8986393"/>
                    <a:pt x="0" y="8503666"/>
                    <a:pt x="0" y="7908036"/>
                  </a:cubicBezTo>
                  <a:close/>
                </a:path>
              </a:pathLst>
            </a:custGeom>
            <a:solidFill>
              <a:srgbClr val="70A7B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540069" y="3707682"/>
            <a:ext cx="7673235" cy="4197448"/>
            <a:chOff x="0" y="0"/>
            <a:chExt cx="10230980" cy="5596598"/>
          </a:xfrm>
        </p:grpSpPr>
        <p:sp>
          <p:nvSpPr>
            <p:cNvPr name="Freeform 14" id="14" descr="07_gdp_lifeexp_scatter.png"/>
            <p:cNvSpPr/>
            <p:nvPr/>
          </p:nvSpPr>
          <p:spPr>
            <a:xfrm flipH="false" flipV="false" rot="0">
              <a:off x="0" y="0"/>
              <a:ext cx="10230993" cy="5596636"/>
            </a:xfrm>
            <a:custGeom>
              <a:avLst/>
              <a:gdLst/>
              <a:ahLst/>
              <a:cxnLst/>
              <a:rect r="r" b="b" t="t" l="l"/>
              <a:pathLst>
                <a:path h="5596636" w="10230993">
                  <a:moveTo>
                    <a:pt x="0" y="0"/>
                  </a:moveTo>
                  <a:lnTo>
                    <a:pt x="10230993" y="0"/>
                  </a:lnTo>
                  <a:lnTo>
                    <a:pt x="10230993" y="5596636"/>
                  </a:lnTo>
                  <a:lnTo>
                    <a:pt x="0" y="5596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64784" y="9059637"/>
            <a:ext cx="16513245" cy="713794"/>
            <a:chOff x="0" y="0"/>
            <a:chExt cx="22017660" cy="9517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017610" cy="951738"/>
            </a:xfrm>
            <a:custGeom>
              <a:avLst/>
              <a:gdLst/>
              <a:ahLst/>
              <a:cxnLst/>
              <a:rect r="r" b="b" t="t" l="l"/>
              <a:pathLst>
                <a:path h="951738" w="2201761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21903437" y="0"/>
                  </a:lnTo>
                  <a:cubicBezTo>
                    <a:pt x="21966555" y="0"/>
                    <a:pt x="22017610" y="51181"/>
                    <a:pt x="22017610" y="114173"/>
                  </a:cubicBezTo>
                  <a:lnTo>
                    <a:pt x="22017610" y="837565"/>
                  </a:lnTo>
                  <a:cubicBezTo>
                    <a:pt x="22017610" y="900684"/>
                    <a:pt x="21966428" y="951738"/>
                    <a:pt x="21903437" y="951738"/>
                  </a:cubicBezTo>
                  <a:lnTo>
                    <a:pt x="114173" y="951738"/>
                  </a:lnTo>
                  <a:cubicBezTo>
                    <a:pt x="51181" y="951738"/>
                    <a:pt x="0" y="900557"/>
                    <a:pt x="0" y="837565"/>
                  </a:cubicBezTo>
                  <a:close/>
                </a:path>
              </a:pathLst>
            </a:custGeom>
            <a:solidFill>
              <a:srgbClr val="224652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-10800000">
            <a:off x="13729840" y="-94478"/>
            <a:ext cx="4572000" cy="4114800"/>
          </a:xfrm>
          <a:custGeom>
            <a:avLst/>
            <a:gdLst/>
            <a:ahLst/>
            <a:cxnLst/>
            <a:rect r="r" b="b" t="t" l="l"/>
            <a:pathLst>
              <a:path h="4114800" w="45720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96147" y="700087"/>
            <a:ext cx="999735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254E5C"/>
                </a:solidFill>
                <a:latin typeface="Lato Bold"/>
                <a:ea typeface="Lato Bold"/>
                <a:cs typeface="Lato Bold"/>
                <a:sym typeface="Lato Bold"/>
              </a:rPr>
              <a:t>GDP và tuổi thọ - tương quan ≠ nhân quả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7913" y="2346893"/>
            <a:ext cx="765959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b="true" sz="210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SPEARMAN HEATMAP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63570" y="2346893"/>
            <a:ext cx="742624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GDP/NGƯỜI VS TUỔI THỌ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4178" y="9210246"/>
            <a:ext cx="1585444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Spearman rho(GDP/người, tuổi thọ) = 0,8265; phải tách train/test theo quốc gia.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F8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-10800000">
            <a:off x="5848493" y="-243770"/>
            <a:ext cx="12439507" cy="6966124"/>
          </a:xfrm>
          <a:custGeom>
            <a:avLst/>
            <a:gdLst/>
            <a:ahLst/>
            <a:cxnLst/>
            <a:rect r="r" b="b" t="t" l="l"/>
            <a:pathLst>
              <a:path h="6966124" w="12439507">
                <a:moveTo>
                  <a:pt x="0" y="0"/>
                </a:moveTo>
                <a:lnTo>
                  <a:pt x="12439507" y="0"/>
                </a:lnTo>
                <a:lnTo>
                  <a:pt x="12439507" y="6966125"/>
                </a:lnTo>
                <a:lnTo>
                  <a:pt x="0" y="6966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96147" y="1962922"/>
            <a:ext cx="16650519" cy="20593"/>
            <a:chOff x="0" y="0"/>
            <a:chExt cx="22200692" cy="274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00743" cy="27432"/>
            </a:xfrm>
            <a:custGeom>
              <a:avLst/>
              <a:gdLst/>
              <a:ahLst/>
              <a:cxnLst/>
              <a:rect r="r" b="b" t="t" l="l"/>
              <a:pathLst>
                <a:path h="27432" w="22200743">
                  <a:moveTo>
                    <a:pt x="0" y="0"/>
                  </a:moveTo>
                  <a:lnTo>
                    <a:pt x="22200743" y="0"/>
                  </a:lnTo>
                  <a:lnTo>
                    <a:pt x="2220074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28435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33421" y="2264912"/>
            <a:ext cx="8112490" cy="6479010"/>
            <a:chOff x="0" y="0"/>
            <a:chExt cx="10816654" cy="86386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16717" cy="8638794"/>
            </a:xfrm>
            <a:custGeom>
              <a:avLst/>
              <a:gdLst/>
              <a:ahLst/>
              <a:cxnLst/>
              <a:rect r="r" b="b" t="t" l="l"/>
              <a:pathLst>
                <a:path h="8638794" w="10816717">
                  <a:moveTo>
                    <a:pt x="0" y="1036701"/>
                  </a:moveTo>
                  <a:cubicBezTo>
                    <a:pt x="0" y="464058"/>
                    <a:pt x="464058" y="0"/>
                    <a:pt x="1036701" y="0"/>
                  </a:cubicBezTo>
                  <a:lnTo>
                    <a:pt x="9780016" y="0"/>
                  </a:lnTo>
                  <a:cubicBezTo>
                    <a:pt x="10352532" y="0"/>
                    <a:pt x="10816717" y="464058"/>
                    <a:pt x="10816717" y="1036701"/>
                  </a:cubicBezTo>
                  <a:lnTo>
                    <a:pt x="10816717" y="7602093"/>
                  </a:lnTo>
                  <a:cubicBezTo>
                    <a:pt x="10816717" y="8174610"/>
                    <a:pt x="10352660" y="8638794"/>
                    <a:pt x="9780016" y="8638794"/>
                  </a:cubicBezTo>
                  <a:lnTo>
                    <a:pt x="1036701" y="8638794"/>
                  </a:lnTo>
                  <a:cubicBezTo>
                    <a:pt x="464058" y="8638667"/>
                    <a:pt x="0" y="8174609"/>
                    <a:pt x="0" y="7602093"/>
                  </a:cubicBezTo>
                  <a:close/>
                </a:path>
              </a:pathLst>
            </a:custGeom>
            <a:solidFill>
              <a:srgbClr val="AED3D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98137" y="3655924"/>
            <a:ext cx="7783049" cy="4232319"/>
            <a:chOff x="0" y="0"/>
            <a:chExt cx="10377399" cy="5643093"/>
          </a:xfrm>
        </p:grpSpPr>
        <p:sp>
          <p:nvSpPr>
            <p:cNvPr name="Freeform 10" id="10" descr="09_continent_lifeexp_stacked_bar.png"/>
            <p:cNvSpPr/>
            <p:nvPr/>
          </p:nvSpPr>
          <p:spPr>
            <a:xfrm flipH="false" flipV="false" rot="0">
              <a:off x="0" y="0"/>
              <a:ext cx="10377424" cy="5643118"/>
            </a:xfrm>
            <a:custGeom>
              <a:avLst/>
              <a:gdLst/>
              <a:ahLst/>
              <a:cxnLst/>
              <a:rect r="r" b="b" t="t" l="l"/>
              <a:pathLst>
                <a:path h="5643118" w="10377424">
                  <a:moveTo>
                    <a:pt x="0" y="0"/>
                  </a:moveTo>
                  <a:lnTo>
                    <a:pt x="10377424" y="0"/>
                  </a:lnTo>
                  <a:lnTo>
                    <a:pt x="10377424" y="5643118"/>
                  </a:lnTo>
                  <a:lnTo>
                    <a:pt x="0" y="5643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306716" y="2264912"/>
            <a:ext cx="8098765" cy="6479010"/>
            <a:chOff x="0" y="0"/>
            <a:chExt cx="10798353" cy="8638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98429" cy="8638794"/>
            </a:xfrm>
            <a:custGeom>
              <a:avLst/>
              <a:gdLst/>
              <a:ahLst/>
              <a:cxnLst/>
              <a:rect r="r" b="b" t="t" l="l"/>
              <a:pathLst>
                <a:path h="8638794" w="10798429">
                  <a:moveTo>
                    <a:pt x="0" y="1036701"/>
                  </a:moveTo>
                  <a:cubicBezTo>
                    <a:pt x="0" y="464058"/>
                    <a:pt x="464058" y="0"/>
                    <a:pt x="1036701" y="0"/>
                  </a:cubicBezTo>
                  <a:lnTo>
                    <a:pt x="9761728" y="0"/>
                  </a:lnTo>
                  <a:cubicBezTo>
                    <a:pt x="10334244" y="0"/>
                    <a:pt x="10798429" y="464058"/>
                    <a:pt x="10798429" y="1036701"/>
                  </a:cubicBezTo>
                  <a:lnTo>
                    <a:pt x="10798429" y="7602093"/>
                  </a:lnTo>
                  <a:cubicBezTo>
                    <a:pt x="10798429" y="8174610"/>
                    <a:pt x="10334372" y="8638794"/>
                    <a:pt x="9761728" y="8638794"/>
                  </a:cubicBezTo>
                  <a:lnTo>
                    <a:pt x="1036701" y="8638794"/>
                  </a:lnTo>
                  <a:cubicBezTo>
                    <a:pt x="464058" y="8638667"/>
                    <a:pt x="0" y="8174609"/>
                    <a:pt x="0" y="7602093"/>
                  </a:cubicBezTo>
                  <a:close/>
                </a:path>
              </a:pathLst>
            </a:custGeom>
            <a:solidFill>
              <a:srgbClr val="AED3D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71441" y="3647084"/>
            <a:ext cx="7769323" cy="4250007"/>
            <a:chOff x="0" y="0"/>
            <a:chExt cx="10359098" cy="5666676"/>
          </a:xfrm>
        </p:grpSpPr>
        <p:sp>
          <p:nvSpPr>
            <p:cNvPr name="Freeform 14" id="14" descr="10_historical_trend.png"/>
            <p:cNvSpPr/>
            <p:nvPr/>
          </p:nvSpPr>
          <p:spPr>
            <a:xfrm flipH="false" flipV="false" rot="0">
              <a:off x="0" y="0"/>
              <a:ext cx="10359136" cy="5666613"/>
            </a:xfrm>
            <a:custGeom>
              <a:avLst/>
              <a:gdLst/>
              <a:ahLst/>
              <a:cxnLst/>
              <a:rect r="r" b="b" t="t" l="l"/>
              <a:pathLst>
                <a:path h="5666613" w="10359136">
                  <a:moveTo>
                    <a:pt x="0" y="0"/>
                  </a:moveTo>
                  <a:lnTo>
                    <a:pt x="10359136" y="0"/>
                  </a:lnTo>
                  <a:lnTo>
                    <a:pt x="10359136" y="5666613"/>
                  </a:lnTo>
                  <a:lnTo>
                    <a:pt x="0" y="5666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33421" y="8901403"/>
            <a:ext cx="16513245" cy="713794"/>
            <a:chOff x="0" y="0"/>
            <a:chExt cx="22017660" cy="9517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017610" cy="951738"/>
            </a:xfrm>
            <a:custGeom>
              <a:avLst/>
              <a:gdLst/>
              <a:ahLst/>
              <a:cxnLst/>
              <a:rect r="r" b="b" t="t" l="l"/>
              <a:pathLst>
                <a:path h="951738" w="2201761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21903437" y="0"/>
                  </a:lnTo>
                  <a:cubicBezTo>
                    <a:pt x="21966555" y="0"/>
                    <a:pt x="22017610" y="51181"/>
                    <a:pt x="22017610" y="114173"/>
                  </a:cubicBezTo>
                  <a:lnTo>
                    <a:pt x="22017610" y="837565"/>
                  </a:lnTo>
                  <a:cubicBezTo>
                    <a:pt x="22017610" y="900684"/>
                    <a:pt x="21966428" y="951738"/>
                    <a:pt x="21903437" y="951738"/>
                  </a:cubicBezTo>
                  <a:lnTo>
                    <a:pt x="114173" y="951738"/>
                  </a:lnTo>
                  <a:cubicBezTo>
                    <a:pt x="51181" y="951738"/>
                    <a:pt x="0" y="900557"/>
                    <a:pt x="0" y="837565"/>
                  </a:cubicBezTo>
                  <a:close/>
                </a:path>
              </a:pathLst>
            </a:custGeom>
            <a:solidFill>
              <a:srgbClr val="70A7B7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82384" y="956291"/>
            <a:ext cx="16774144" cy="73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b="true" sz="4053">
                <a:solidFill>
                  <a:srgbClr val="224652"/>
                </a:solidFill>
                <a:latin typeface="Lato Bold"/>
                <a:ea typeface="Lato Bold"/>
                <a:cs typeface="Lato Bold"/>
                <a:sym typeface="Lato Bold"/>
              </a:rPr>
              <a:t>Insight theo nhóm &amp; theo thời gian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1638" y="2442972"/>
            <a:ext cx="7536056" cy="40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b="true" sz="180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CLASS MIX BY CONTINENT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94933" y="2442972"/>
            <a:ext cx="7522331" cy="40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b="true" sz="180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LONGITUDINAL TREND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4178" y="9086707"/>
            <a:ext cx="1585444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Cỡ mẫu vùng khác nhau, nhãn ≥70 mất cân đối, không diễn giải giai đoạn 1952–2007 như năm hiện tại.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221952">
            <a:off x="-2794840" y="3173739"/>
            <a:ext cx="21728955" cy="2194128"/>
            <a:chOff x="0" y="0"/>
            <a:chExt cx="5722852" cy="5778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22852" cy="577877"/>
            </a:xfrm>
            <a:custGeom>
              <a:avLst/>
              <a:gdLst/>
              <a:ahLst/>
              <a:cxnLst/>
              <a:rect r="r" b="b" t="t" l="l"/>
              <a:pathLst>
                <a:path h="577877" w="5722852">
                  <a:moveTo>
                    <a:pt x="0" y="0"/>
                  </a:moveTo>
                  <a:lnTo>
                    <a:pt x="5722852" y="0"/>
                  </a:lnTo>
                  <a:lnTo>
                    <a:pt x="5722852" y="577877"/>
                  </a:lnTo>
                  <a:lnTo>
                    <a:pt x="0" y="577877"/>
                  </a:lnTo>
                  <a:close/>
                </a:path>
              </a:pathLst>
            </a:custGeom>
            <a:solidFill>
              <a:srgbClr val="F1F8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5722852" cy="587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0" y="0"/>
            <a:ext cx="5709713" cy="5143500"/>
          </a:xfrm>
          <a:custGeom>
            <a:avLst/>
            <a:gdLst/>
            <a:ahLst/>
            <a:cxnLst/>
            <a:rect r="r" b="b" t="t" l="l"/>
            <a:pathLst>
              <a:path h="5143500" w="5709713">
                <a:moveTo>
                  <a:pt x="0" y="0"/>
                </a:moveTo>
                <a:lnTo>
                  <a:pt x="5709713" y="0"/>
                </a:lnTo>
                <a:lnTo>
                  <a:pt x="570971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91454" y="7227278"/>
            <a:ext cx="3396546" cy="3059722"/>
          </a:xfrm>
          <a:custGeom>
            <a:avLst/>
            <a:gdLst/>
            <a:ahLst/>
            <a:cxnLst/>
            <a:rect r="r" b="b" t="t" l="l"/>
            <a:pathLst>
              <a:path h="3059722" w="3396546">
                <a:moveTo>
                  <a:pt x="0" y="0"/>
                </a:moveTo>
                <a:lnTo>
                  <a:pt x="3396546" y="0"/>
                </a:lnTo>
                <a:lnTo>
                  <a:pt x="3396546" y="3059722"/>
                </a:lnTo>
                <a:lnTo>
                  <a:pt x="0" y="30597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05946" y="3197492"/>
            <a:ext cx="10139229" cy="350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21"/>
              </a:lnSpc>
            </a:pPr>
            <a:r>
              <a:rPr lang="en-US" b="true" sz="20515">
                <a:solidFill>
                  <a:srgbClr val="537B8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STAGE 2</a:t>
            </a:r>
          </a:p>
        </p:txBody>
      </p:sp>
      <p:grpSp>
        <p:nvGrpSpPr>
          <p:cNvPr name="Group 8" id="8"/>
          <p:cNvGrpSpPr/>
          <p:nvPr/>
        </p:nvGrpSpPr>
        <p:grpSpPr>
          <a:xfrm rot="2440382">
            <a:off x="-5561375" y="10214030"/>
            <a:ext cx="21728955" cy="248687"/>
            <a:chOff x="0" y="0"/>
            <a:chExt cx="5722852" cy="654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22852" cy="65498"/>
            </a:xfrm>
            <a:custGeom>
              <a:avLst/>
              <a:gdLst/>
              <a:ahLst/>
              <a:cxnLst/>
              <a:rect r="r" b="b" t="t" l="l"/>
              <a:pathLst>
                <a:path h="65498" w="5722852">
                  <a:moveTo>
                    <a:pt x="0" y="0"/>
                  </a:moveTo>
                  <a:lnTo>
                    <a:pt x="5722852" y="0"/>
                  </a:lnTo>
                  <a:lnTo>
                    <a:pt x="5722852" y="65498"/>
                  </a:lnTo>
                  <a:lnTo>
                    <a:pt x="0" y="65498"/>
                  </a:lnTo>
                  <a:close/>
                </a:path>
              </a:pathLst>
            </a:custGeom>
            <a:solidFill>
              <a:srgbClr val="AED3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5722852" cy="750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221952">
            <a:off x="-3515397" y="3088107"/>
            <a:ext cx="21728955" cy="289963"/>
            <a:chOff x="0" y="0"/>
            <a:chExt cx="5722852" cy="763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22852" cy="76369"/>
            </a:xfrm>
            <a:custGeom>
              <a:avLst/>
              <a:gdLst/>
              <a:ahLst/>
              <a:cxnLst/>
              <a:rect r="r" b="b" t="t" l="l"/>
              <a:pathLst>
                <a:path h="76369" w="5722852">
                  <a:moveTo>
                    <a:pt x="0" y="0"/>
                  </a:moveTo>
                  <a:lnTo>
                    <a:pt x="5722852" y="0"/>
                  </a:lnTo>
                  <a:lnTo>
                    <a:pt x="5722852" y="76369"/>
                  </a:lnTo>
                  <a:lnTo>
                    <a:pt x="0" y="76369"/>
                  </a:lnTo>
                  <a:close/>
                </a:path>
              </a:pathLst>
            </a:custGeom>
            <a:solidFill>
              <a:srgbClr val="AED3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722852" cy="858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2440382">
            <a:off x="-6087717" y="7177698"/>
            <a:ext cx="21728955" cy="2194128"/>
            <a:chOff x="0" y="0"/>
            <a:chExt cx="5722852" cy="5778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22852" cy="577877"/>
            </a:xfrm>
            <a:custGeom>
              <a:avLst/>
              <a:gdLst/>
              <a:ahLst/>
              <a:cxnLst/>
              <a:rect r="r" b="b" t="t" l="l"/>
              <a:pathLst>
                <a:path h="577877" w="5722852">
                  <a:moveTo>
                    <a:pt x="0" y="0"/>
                  </a:moveTo>
                  <a:lnTo>
                    <a:pt x="5722852" y="0"/>
                  </a:lnTo>
                  <a:lnTo>
                    <a:pt x="5722852" y="577877"/>
                  </a:lnTo>
                  <a:lnTo>
                    <a:pt x="0" y="577877"/>
                  </a:lnTo>
                  <a:close/>
                </a:path>
              </a:pathLst>
            </a:custGeom>
            <a:solidFill>
              <a:srgbClr val="F1F8F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5722852" cy="587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1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3977" y="0"/>
            <a:ext cx="18445817" cy="10295039"/>
            <a:chOff x="0" y="0"/>
            <a:chExt cx="2459442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9438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594384">
                  <a:moveTo>
                    <a:pt x="0" y="0"/>
                  </a:moveTo>
                  <a:lnTo>
                    <a:pt x="24594384" y="0"/>
                  </a:lnTo>
                  <a:lnTo>
                    <a:pt x="2459438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F8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-10800000">
            <a:off x="10778490" y="0"/>
            <a:ext cx="7509510" cy="10287000"/>
          </a:xfrm>
          <a:custGeom>
            <a:avLst/>
            <a:gdLst/>
            <a:ahLst/>
            <a:cxnLst/>
            <a:rect r="r" b="b" t="t" l="l"/>
            <a:pathLst>
              <a:path h="10287000" w="7509510">
                <a:moveTo>
                  <a:pt x="0" y="0"/>
                </a:moveTo>
                <a:lnTo>
                  <a:pt x="7509510" y="0"/>
                </a:lnTo>
                <a:lnTo>
                  <a:pt x="75095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96147" y="1962922"/>
            <a:ext cx="16650519" cy="20593"/>
            <a:chOff x="0" y="0"/>
            <a:chExt cx="22200692" cy="274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00743" cy="27432"/>
            </a:xfrm>
            <a:custGeom>
              <a:avLst/>
              <a:gdLst/>
              <a:ahLst/>
              <a:cxnLst/>
              <a:rect r="r" b="b" t="t" l="l"/>
              <a:pathLst>
                <a:path h="27432" w="22200743">
                  <a:moveTo>
                    <a:pt x="0" y="0"/>
                  </a:moveTo>
                  <a:lnTo>
                    <a:pt x="22200743" y="0"/>
                  </a:lnTo>
                  <a:lnTo>
                    <a:pt x="2220074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28435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60872" y="2223726"/>
            <a:ext cx="11118647" cy="6726098"/>
            <a:chOff x="0" y="0"/>
            <a:chExt cx="14824862" cy="89681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824965" cy="8968105"/>
            </a:xfrm>
            <a:custGeom>
              <a:avLst/>
              <a:gdLst/>
              <a:ahLst/>
              <a:cxnLst/>
              <a:rect r="r" b="b" t="t" l="l"/>
              <a:pathLst>
                <a:path h="8968105" w="14824965">
                  <a:moveTo>
                    <a:pt x="0" y="1076198"/>
                  </a:moveTo>
                  <a:cubicBezTo>
                    <a:pt x="0" y="481838"/>
                    <a:pt x="481838" y="0"/>
                    <a:pt x="1076198" y="0"/>
                  </a:cubicBezTo>
                  <a:lnTo>
                    <a:pt x="13748767" y="0"/>
                  </a:lnTo>
                  <a:cubicBezTo>
                    <a:pt x="14343126" y="0"/>
                    <a:pt x="14824965" y="481838"/>
                    <a:pt x="14824965" y="1076198"/>
                  </a:cubicBezTo>
                  <a:lnTo>
                    <a:pt x="14824965" y="7891907"/>
                  </a:lnTo>
                  <a:cubicBezTo>
                    <a:pt x="14824965" y="8486267"/>
                    <a:pt x="14343126" y="8968105"/>
                    <a:pt x="13748767" y="8968105"/>
                  </a:cubicBezTo>
                  <a:lnTo>
                    <a:pt x="1076198" y="8968105"/>
                  </a:lnTo>
                  <a:cubicBezTo>
                    <a:pt x="481838" y="8968105"/>
                    <a:pt x="0" y="8486267"/>
                    <a:pt x="0" y="7891907"/>
                  </a:cubicBezTo>
                  <a:close/>
                </a:path>
              </a:pathLst>
            </a:custGeom>
            <a:solidFill>
              <a:srgbClr val="70A7B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79769" y="2923794"/>
            <a:ext cx="10480855" cy="5748964"/>
            <a:chOff x="0" y="0"/>
            <a:chExt cx="14180820" cy="7778471"/>
          </a:xfrm>
        </p:grpSpPr>
        <p:sp>
          <p:nvSpPr>
            <p:cNvPr name="Freeform 10" id="10" descr="11_pca_cumulative_variance.png"/>
            <p:cNvSpPr/>
            <p:nvPr/>
          </p:nvSpPr>
          <p:spPr>
            <a:xfrm flipH="false" flipV="false" rot="0">
              <a:off x="0" y="0"/>
              <a:ext cx="14180820" cy="7778496"/>
            </a:xfrm>
            <a:custGeom>
              <a:avLst/>
              <a:gdLst/>
              <a:ahLst/>
              <a:cxnLst/>
              <a:rect r="r" b="b" t="t" l="l"/>
              <a:pathLst>
                <a:path h="7778496" w="14180820">
                  <a:moveTo>
                    <a:pt x="0" y="0"/>
                  </a:moveTo>
                  <a:lnTo>
                    <a:pt x="14180820" y="0"/>
                  </a:lnTo>
                  <a:lnTo>
                    <a:pt x="14180820" y="7778496"/>
                  </a:lnTo>
                  <a:lnTo>
                    <a:pt x="0" y="777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436411" y="3359615"/>
            <a:ext cx="4941618" cy="2017833"/>
            <a:chOff x="0" y="0"/>
            <a:chExt cx="6588823" cy="26904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88760" cy="2690368"/>
            </a:xfrm>
            <a:custGeom>
              <a:avLst/>
              <a:gdLst/>
              <a:ahLst/>
              <a:cxnLst/>
              <a:rect r="r" b="b" t="t" l="l"/>
              <a:pathLst>
                <a:path h="2690368" w="6588760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6265926" y="0"/>
                  </a:lnTo>
                  <a:cubicBezTo>
                    <a:pt x="6444234" y="0"/>
                    <a:pt x="6588760" y="144526"/>
                    <a:pt x="6588760" y="322834"/>
                  </a:cubicBezTo>
                  <a:lnTo>
                    <a:pt x="6588760" y="2367534"/>
                  </a:lnTo>
                  <a:cubicBezTo>
                    <a:pt x="6588760" y="2545842"/>
                    <a:pt x="6444234" y="2690368"/>
                    <a:pt x="6265926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70A7B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436411" y="5775517"/>
            <a:ext cx="4941618" cy="2017833"/>
            <a:chOff x="0" y="0"/>
            <a:chExt cx="6588823" cy="26904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88760" cy="2690368"/>
            </a:xfrm>
            <a:custGeom>
              <a:avLst/>
              <a:gdLst/>
              <a:ahLst/>
              <a:cxnLst/>
              <a:rect r="r" b="b" t="t" l="l"/>
              <a:pathLst>
                <a:path h="2690368" w="6588760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6265926" y="0"/>
                  </a:lnTo>
                  <a:cubicBezTo>
                    <a:pt x="6444234" y="0"/>
                    <a:pt x="6588760" y="144526"/>
                    <a:pt x="6588760" y="322834"/>
                  </a:cubicBezTo>
                  <a:lnTo>
                    <a:pt x="6588760" y="2367534"/>
                  </a:lnTo>
                  <a:cubicBezTo>
                    <a:pt x="6588760" y="2545842"/>
                    <a:pt x="6444234" y="2690368"/>
                    <a:pt x="6265926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70A7B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64784" y="9169451"/>
            <a:ext cx="16513245" cy="713794"/>
            <a:chOff x="0" y="0"/>
            <a:chExt cx="22017660" cy="9517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017610" cy="951738"/>
            </a:xfrm>
            <a:custGeom>
              <a:avLst/>
              <a:gdLst/>
              <a:ahLst/>
              <a:cxnLst/>
              <a:rect r="r" b="b" t="t" l="l"/>
              <a:pathLst>
                <a:path h="951738" w="2201761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21903437" y="0"/>
                  </a:lnTo>
                  <a:cubicBezTo>
                    <a:pt x="21966555" y="0"/>
                    <a:pt x="22017610" y="51181"/>
                    <a:pt x="22017610" y="114173"/>
                  </a:cubicBezTo>
                  <a:lnTo>
                    <a:pt x="22017610" y="837565"/>
                  </a:lnTo>
                  <a:cubicBezTo>
                    <a:pt x="22017610" y="900684"/>
                    <a:pt x="21966428" y="951738"/>
                    <a:pt x="21903437" y="951738"/>
                  </a:cubicBezTo>
                  <a:lnTo>
                    <a:pt x="114173" y="951738"/>
                  </a:lnTo>
                  <a:cubicBezTo>
                    <a:pt x="51181" y="951738"/>
                    <a:pt x="0" y="900557"/>
                    <a:pt x="0" y="837565"/>
                  </a:cubicBezTo>
                  <a:close/>
                </a:path>
              </a:pathLst>
            </a:custGeom>
            <a:solidFill>
              <a:srgbClr val="537B87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82383" y="946766"/>
            <a:ext cx="1677414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254E5C"/>
                </a:solidFill>
                <a:latin typeface="Lato Bold"/>
                <a:ea typeface="Lato Bold"/>
                <a:cs typeface="Lato Bold"/>
                <a:sym typeface="Lato Bold"/>
              </a:rPr>
              <a:t>PCA - giữ 91,26% phương sai với 7 PCs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9089" y="2401795"/>
            <a:ext cx="1054221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b="true" sz="210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CUMULATIVE EXPLAINED VARIANCE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52080" y="3565136"/>
            <a:ext cx="4310282" cy="38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COMPONENTS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38354" y="4041367"/>
            <a:ext cx="4337733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224652"/>
                </a:solidFill>
                <a:latin typeface="Lato Bold"/>
                <a:ea typeface="Lato Bold"/>
                <a:cs typeface="Lato Bold"/>
                <a:sym typeface="Lato Bold"/>
              </a:rPr>
              <a:t>7 PCs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52080" y="5981038"/>
            <a:ext cx="4310282" cy="38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VARIANCE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38354" y="6457269"/>
            <a:ext cx="4337733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224652"/>
                </a:solidFill>
                <a:latin typeface="Lato Bold"/>
                <a:ea typeface="Lato Bold"/>
                <a:cs typeface="Lato Bold"/>
                <a:sym typeface="Lato Bold"/>
              </a:rPr>
              <a:t>91,26%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4178" y="9329585"/>
            <a:ext cx="1585444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Chuẩn hóa trước PCA; chọn số PCs nhỏ nhất đạt ngưỡng 90%.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-110774" y="-5153"/>
            <a:ext cx="18464353" cy="304219"/>
            <a:chOff x="0" y="0"/>
            <a:chExt cx="24619137" cy="4056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619082" cy="405638"/>
            </a:xfrm>
            <a:custGeom>
              <a:avLst/>
              <a:gdLst/>
              <a:ahLst/>
              <a:cxnLst/>
              <a:rect r="r" b="b" t="t" l="l"/>
              <a:pathLst>
                <a:path h="405638" w="24619082">
                  <a:moveTo>
                    <a:pt x="0" y="48661"/>
                  </a:moveTo>
                  <a:cubicBezTo>
                    <a:pt x="0" y="21813"/>
                    <a:pt x="57228" y="0"/>
                    <a:pt x="127663" y="0"/>
                  </a:cubicBezTo>
                  <a:lnTo>
                    <a:pt x="24491418" y="0"/>
                  </a:lnTo>
                  <a:cubicBezTo>
                    <a:pt x="24561995" y="0"/>
                    <a:pt x="24619082" y="21813"/>
                    <a:pt x="24619082" y="48661"/>
                  </a:cubicBezTo>
                  <a:lnTo>
                    <a:pt x="24619082" y="356970"/>
                  </a:lnTo>
                  <a:cubicBezTo>
                    <a:pt x="24619082" y="383871"/>
                    <a:pt x="24561853" y="405638"/>
                    <a:pt x="24491418" y="405638"/>
                  </a:cubicBezTo>
                  <a:lnTo>
                    <a:pt x="127663" y="405638"/>
                  </a:lnTo>
                  <a:cubicBezTo>
                    <a:pt x="57228" y="405638"/>
                    <a:pt x="0" y="383817"/>
                    <a:pt x="0" y="356970"/>
                  </a:cubicBezTo>
                  <a:close/>
                </a:path>
              </a:pathLst>
            </a:custGeom>
            <a:solidFill>
              <a:srgbClr val="415E67"/>
            </a:solid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F8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634285" y="604150"/>
            <a:ext cx="3896299" cy="4058644"/>
          </a:xfrm>
          <a:custGeom>
            <a:avLst/>
            <a:gdLst/>
            <a:ahLst/>
            <a:cxnLst/>
            <a:rect r="r" b="b" t="t" l="l"/>
            <a:pathLst>
              <a:path h="4058644" w="3896299">
                <a:moveTo>
                  <a:pt x="0" y="0"/>
                </a:moveTo>
                <a:lnTo>
                  <a:pt x="3896299" y="0"/>
                </a:lnTo>
                <a:lnTo>
                  <a:pt x="3896299" y="4058644"/>
                </a:lnTo>
                <a:lnTo>
                  <a:pt x="0" y="40586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37265" cy="10295039"/>
            <a:chOff x="0" y="0"/>
            <a:chExt cx="183020" cy="137267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00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83007">
                  <a:moveTo>
                    <a:pt x="0" y="0"/>
                  </a:moveTo>
                  <a:lnTo>
                    <a:pt x="183007" y="0"/>
                  </a:lnTo>
                  <a:lnTo>
                    <a:pt x="183007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2445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05961" y="2264912"/>
            <a:ext cx="8373304" cy="6794725"/>
            <a:chOff x="0" y="0"/>
            <a:chExt cx="11164405" cy="90596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64315" cy="9059545"/>
            </a:xfrm>
            <a:custGeom>
              <a:avLst/>
              <a:gdLst/>
              <a:ahLst/>
              <a:cxnLst/>
              <a:rect r="r" b="b" t="t" l="l"/>
              <a:pathLst>
                <a:path h="9059545" w="11164315">
                  <a:moveTo>
                    <a:pt x="0" y="1087120"/>
                  </a:moveTo>
                  <a:cubicBezTo>
                    <a:pt x="0" y="486791"/>
                    <a:pt x="486791" y="0"/>
                    <a:pt x="1087120" y="0"/>
                  </a:cubicBezTo>
                  <a:lnTo>
                    <a:pt x="10077196" y="0"/>
                  </a:lnTo>
                  <a:cubicBezTo>
                    <a:pt x="10677652" y="0"/>
                    <a:pt x="11164315" y="486791"/>
                    <a:pt x="11164315" y="1087120"/>
                  </a:cubicBezTo>
                  <a:lnTo>
                    <a:pt x="11164315" y="7972425"/>
                  </a:lnTo>
                  <a:cubicBezTo>
                    <a:pt x="11164315" y="8572881"/>
                    <a:pt x="10677525" y="9059545"/>
                    <a:pt x="10077196" y="9059545"/>
                  </a:cubicBezTo>
                  <a:lnTo>
                    <a:pt x="1087120" y="9059545"/>
                  </a:lnTo>
                  <a:cubicBezTo>
                    <a:pt x="486664" y="9059545"/>
                    <a:pt x="0" y="8572754"/>
                    <a:pt x="0" y="7972425"/>
                  </a:cubicBezTo>
                  <a:close/>
                </a:path>
              </a:pathLst>
            </a:custGeom>
            <a:solidFill>
              <a:srgbClr val="AED3D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70686" y="4415495"/>
            <a:ext cx="8043862" cy="3028902"/>
            <a:chOff x="0" y="0"/>
            <a:chExt cx="10725150" cy="4038536"/>
          </a:xfrm>
        </p:grpSpPr>
        <p:sp>
          <p:nvSpPr>
            <p:cNvPr name="Freeform 10" id="10" descr="12_kmeans_elbow_silhouette.png"/>
            <p:cNvSpPr/>
            <p:nvPr/>
          </p:nvSpPr>
          <p:spPr>
            <a:xfrm flipH="false" flipV="false" rot="0">
              <a:off x="0" y="0"/>
              <a:ext cx="10725150" cy="4038600"/>
            </a:xfrm>
            <a:custGeom>
              <a:avLst/>
              <a:gdLst/>
              <a:ahLst/>
              <a:cxnLst/>
              <a:rect r="r" b="b" t="t" l="l"/>
              <a:pathLst>
                <a:path h="4038600" w="10725150">
                  <a:moveTo>
                    <a:pt x="0" y="0"/>
                  </a:moveTo>
                  <a:lnTo>
                    <a:pt x="10725150" y="0"/>
                  </a:lnTo>
                  <a:lnTo>
                    <a:pt x="10725150" y="4038600"/>
                  </a:lnTo>
                  <a:lnTo>
                    <a:pt x="0" y="403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26343" y="2264912"/>
            <a:ext cx="7865412" cy="6794725"/>
            <a:chOff x="0" y="0"/>
            <a:chExt cx="10487216" cy="90596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87151" cy="9059545"/>
            </a:xfrm>
            <a:custGeom>
              <a:avLst/>
              <a:gdLst/>
              <a:ahLst/>
              <a:cxnLst/>
              <a:rect r="r" b="b" t="t" l="l"/>
              <a:pathLst>
                <a:path h="9059545" w="10487151">
                  <a:moveTo>
                    <a:pt x="0" y="1087120"/>
                  </a:moveTo>
                  <a:cubicBezTo>
                    <a:pt x="0" y="486791"/>
                    <a:pt x="486791" y="0"/>
                    <a:pt x="1087120" y="0"/>
                  </a:cubicBezTo>
                  <a:lnTo>
                    <a:pt x="9400032" y="0"/>
                  </a:lnTo>
                  <a:cubicBezTo>
                    <a:pt x="10000488" y="0"/>
                    <a:pt x="10487151" y="486791"/>
                    <a:pt x="10487151" y="1087120"/>
                  </a:cubicBezTo>
                  <a:lnTo>
                    <a:pt x="10487151" y="7972425"/>
                  </a:lnTo>
                  <a:cubicBezTo>
                    <a:pt x="10487151" y="8572881"/>
                    <a:pt x="10000361" y="9059545"/>
                    <a:pt x="9400032" y="9059545"/>
                  </a:cubicBezTo>
                  <a:lnTo>
                    <a:pt x="1087120" y="9059545"/>
                  </a:lnTo>
                  <a:cubicBezTo>
                    <a:pt x="486664" y="9059545"/>
                    <a:pt x="0" y="8572754"/>
                    <a:pt x="0" y="7972425"/>
                  </a:cubicBezTo>
                  <a:close/>
                </a:path>
              </a:pathLst>
            </a:custGeom>
            <a:solidFill>
              <a:srgbClr val="AED3D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691068" y="3439506"/>
            <a:ext cx="7535970" cy="4980870"/>
            <a:chOff x="0" y="0"/>
            <a:chExt cx="10047961" cy="6641160"/>
          </a:xfrm>
        </p:grpSpPr>
        <p:sp>
          <p:nvSpPr>
            <p:cNvPr name="Freeform 14" id="14" descr="13_kmeans_2d_clusters.png"/>
            <p:cNvSpPr/>
            <p:nvPr/>
          </p:nvSpPr>
          <p:spPr>
            <a:xfrm flipH="false" flipV="false" rot="0">
              <a:off x="0" y="0"/>
              <a:ext cx="10047986" cy="6641211"/>
            </a:xfrm>
            <a:custGeom>
              <a:avLst/>
              <a:gdLst/>
              <a:ahLst/>
              <a:cxnLst/>
              <a:rect r="r" b="b" t="t" l="l"/>
              <a:pathLst>
                <a:path h="6641211" w="10047986">
                  <a:moveTo>
                    <a:pt x="0" y="0"/>
                  </a:moveTo>
                  <a:lnTo>
                    <a:pt x="10047986" y="0"/>
                  </a:lnTo>
                  <a:lnTo>
                    <a:pt x="10047986" y="6641211"/>
                  </a:lnTo>
                  <a:lnTo>
                    <a:pt x="0" y="6641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7926" y="9153663"/>
            <a:ext cx="16659507" cy="713794"/>
            <a:chOff x="0" y="0"/>
            <a:chExt cx="22212675" cy="9517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212626" cy="951738"/>
            </a:xfrm>
            <a:custGeom>
              <a:avLst/>
              <a:gdLst/>
              <a:ahLst/>
              <a:cxnLst/>
              <a:rect r="r" b="b" t="t" l="l"/>
              <a:pathLst>
                <a:path h="951738" w="22212626">
                  <a:moveTo>
                    <a:pt x="0" y="114173"/>
                  </a:moveTo>
                  <a:cubicBezTo>
                    <a:pt x="0" y="51181"/>
                    <a:pt x="51634" y="0"/>
                    <a:pt x="115184" y="0"/>
                  </a:cubicBezTo>
                  <a:lnTo>
                    <a:pt x="22097440" y="0"/>
                  </a:lnTo>
                  <a:cubicBezTo>
                    <a:pt x="22161119" y="0"/>
                    <a:pt x="22212626" y="51181"/>
                    <a:pt x="22212626" y="114173"/>
                  </a:cubicBezTo>
                  <a:lnTo>
                    <a:pt x="22212626" y="837565"/>
                  </a:lnTo>
                  <a:cubicBezTo>
                    <a:pt x="22212626" y="900684"/>
                    <a:pt x="22160990" y="951738"/>
                    <a:pt x="22097440" y="951738"/>
                  </a:cubicBezTo>
                  <a:lnTo>
                    <a:pt x="115184" y="951738"/>
                  </a:lnTo>
                  <a:cubicBezTo>
                    <a:pt x="51634" y="951738"/>
                    <a:pt x="0" y="900557"/>
                    <a:pt x="0" y="837565"/>
                  </a:cubicBezTo>
                  <a:close/>
                </a:path>
              </a:pathLst>
            </a:custGeom>
            <a:solidFill>
              <a:srgbClr val="366270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37265" y="360407"/>
            <a:ext cx="7315200" cy="329184"/>
          </a:xfrm>
          <a:custGeom>
            <a:avLst/>
            <a:gdLst/>
            <a:ahLst/>
            <a:cxnLst/>
            <a:rect r="r" b="b" t="t" l="l"/>
            <a:pathLst>
              <a:path h="329184" w="7315200">
                <a:moveTo>
                  <a:pt x="0" y="0"/>
                </a:moveTo>
                <a:lnTo>
                  <a:pt x="7315200" y="0"/>
                </a:lnTo>
                <a:lnTo>
                  <a:pt x="731520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05961" y="3671697"/>
            <a:ext cx="4327632" cy="476040"/>
          </a:xfrm>
          <a:custGeom>
            <a:avLst/>
            <a:gdLst/>
            <a:ahLst/>
            <a:cxnLst/>
            <a:rect r="r" b="b" t="t" l="l"/>
            <a:pathLst>
              <a:path h="476040" w="4327632">
                <a:moveTo>
                  <a:pt x="0" y="0"/>
                </a:moveTo>
                <a:lnTo>
                  <a:pt x="4327632" y="0"/>
                </a:lnTo>
                <a:lnTo>
                  <a:pt x="4327632" y="476040"/>
                </a:lnTo>
                <a:lnTo>
                  <a:pt x="0" y="4760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82383" y="946766"/>
            <a:ext cx="892476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254E5C"/>
                </a:solidFill>
                <a:latin typeface="Lato Bold"/>
                <a:ea typeface="Lato Bold"/>
                <a:cs typeface="Lato Bold"/>
                <a:sym typeface="Lato Bold"/>
              </a:rPr>
              <a:t>K-Means - PCA vượt đặc trưng gốc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4178" y="2452497"/>
            <a:ext cx="779687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ELBOW + SILHOUETTE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14570" y="2452497"/>
            <a:ext cx="728897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2 CLUSTERS PROJECTED TO 2D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4178" y="9329585"/>
            <a:ext cx="1585444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K=2 - Silhouette PCA 0,288 &gt; Original 0,264; chất lượng phân cụm còn ở mức vừa.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951633" y="7711097"/>
            <a:ext cx="4327632" cy="476040"/>
          </a:xfrm>
          <a:custGeom>
            <a:avLst/>
            <a:gdLst/>
            <a:ahLst/>
            <a:cxnLst/>
            <a:rect r="r" b="b" t="t" l="l"/>
            <a:pathLst>
              <a:path h="476040" w="4327632">
                <a:moveTo>
                  <a:pt x="0" y="0"/>
                </a:moveTo>
                <a:lnTo>
                  <a:pt x="4327632" y="0"/>
                </a:lnTo>
                <a:lnTo>
                  <a:pt x="4327632" y="476040"/>
                </a:lnTo>
                <a:lnTo>
                  <a:pt x="0" y="4760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F8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4444" y="0"/>
            <a:ext cx="8598339" cy="7093630"/>
          </a:xfrm>
          <a:custGeom>
            <a:avLst/>
            <a:gdLst/>
            <a:ahLst/>
            <a:cxnLst/>
            <a:rect r="r" b="b" t="t" l="l"/>
            <a:pathLst>
              <a:path h="7093630" w="8598339">
                <a:moveTo>
                  <a:pt x="0" y="0"/>
                </a:moveTo>
                <a:lnTo>
                  <a:pt x="8598339" y="0"/>
                </a:lnTo>
                <a:lnTo>
                  <a:pt x="8598339" y="7093630"/>
                </a:lnTo>
                <a:lnTo>
                  <a:pt x="0" y="70936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22355" y="4920987"/>
            <a:ext cx="5965645" cy="5374052"/>
          </a:xfrm>
          <a:custGeom>
            <a:avLst/>
            <a:gdLst/>
            <a:ahLst/>
            <a:cxnLst/>
            <a:rect r="r" b="b" t="t" l="l"/>
            <a:pathLst>
              <a:path h="5374052" w="5965645">
                <a:moveTo>
                  <a:pt x="0" y="0"/>
                </a:moveTo>
                <a:lnTo>
                  <a:pt x="5965645" y="0"/>
                </a:lnTo>
                <a:lnTo>
                  <a:pt x="5965645" y="5374052"/>
                </a:lnTo>
                <a:lnTo>
                  <a:pt x="0" y="53740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96147" y="1962922"/>
            <a:ext cx="16650519" cy="20593"/>
            <a:chOff x="0" y="0"/>
            <a:chExt cx="22200692" cy="274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00743" cy="27432"/>
            </a:xfrm>
            <a:custGeom>
              <a:avLst/>
              <a:gdLst/>
              <a:ahLst/>
              <a:cxnLst/>
              <a:rect r="r" b="b" t="t" l="l"/>
              <a:pathLst>
                <a:path h="27432" w="22200743">
                  <a:moveTo>
                    <a:pt x="0" y="0"/>
                  </a:moveTo>
                  <a:lnTo>
                    <a:pt x="22200743" y="0"/>
                  </a:lnTo>
                  <a:lnTo>
                    <a:pt x="2220074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70A7B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2470814"/>
            <a:ext cx="8057588" cy="2017833"/>
            <a:chOff x="0" y="0"/>
            <a:chExt cx="10743451" cy="26904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43438" cy="2690368"/>
            </a:xfrm>
            <a:custGeom>
              <a:avLst/>
              <a:gdLst/>
              <a:ahLst/>
              <a:cxnLst/>
              <a:rect r="r" b="b" t="t" l="l"/>
              <a:pathLst>
                <a:path h="2690368" w="10743438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10420603" y="0"/>
                  </a:lnTo>
                  <a:cubicBezTo>
                    <a:pt x="10598912" y="0"/>
                    <a:pt x="10743438" y="144526"/>
                    <a:pt x="10743438" y="322834"/>
                  </a:cubicBezTo>
                  <a:lnTo>
                    <a:pt x="10743438" y="2367534"/>
                  </a:lnTo>
                  <a:cubicBezTo>
                    <a:pt x="10743438" y="2545842"/>
                    <a:pt x="10598912" y="2690368"/>
                    <a:pt x="10420603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AED3D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92990" y="2470814"/>
            <a:ext cx="8057588" cy="2017833"/>
            <a:chOff x="0" y="0"/>
            <a:chExt cx="10743451" cy="26904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43438" cy="2690368"/>
            </a:xfrm>
            <a:custGeom>
              <a:avLst/>
              <a:gdLst/>
              <a:ahLst/>
              <a:cxnLst/>
              <a:rect r="r" b="b" t="t" l="l"/>
              <a:pathLst>
                <a:path h="2690368" w="10743438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10420603" y="0"/>
                  </a:lnTo>
                  <a:cubicBezTo>
                    <a:pt x="10598912" y="0"/>
                    <a:pt x="10743438" y="144526"/>
                    <a:pt x="10743438" y="322834"/>
                  </a:cubicBezTo>
                  <a:lnTo>
                    <a:pt x="10743438" y="2367534"/>
                  </a:lnTo>
                  <a:cubicBezTo>
                    <a:pt x="10743438" y="2545842"/>
                    <a:pt x="10598912" y="2690368"/>
                    <a:pt x="10420603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AED3D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872" y="5106343"/>
            <a:ext cx="8057588" cy="2910068"/>
            <a:chOff x="0" y="0"/>
            <a:chExt cx="10743451" cy="38800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43438" cy="3880104"/>
            </a:xfrm>
            <a:custGeom>
              <a:avLst/>
              <a:gdLst/>
              <a:ahLst/>
              <a:cxnLst/>
              <a:rect r="r" b="b" t="t" l="l"/>
              <a:pathLst>
                <a:path h="3880104" w="10743438">
                  <a:moveTo>
                    <a:pt x="0" y="465582"/>
                  </a:moveTo>
                  <a:cubicBezTo>
                    <a:pt x="0" y="208407"/>
                    <a:pt x="208407" y="0"/>
                    <a:pt x="465582" y="0"/>
                  </a:cubicBezTo>
                  <a:lnTo>
                    <a:pt x="10277856" y="0"/>
                  </a:lnTo>
                  <a:cubicBezTo>
                    <a:pt x="10535031" y="0"/>
                    <a:pt x="10743438" y="208407"/>
                    <a:pt x="10743438" y="465582"/>
                  </a:cubicBezTo>
                  <a:lnTo>
                    <a:pt x="10743438" y="3414522"/>
                  </a:lnTo>
                  <a:cubicBezTo>
                    <a:pt x="10743438" y="3671697"/>
                    <a:pt x="10535031" y="3880104"/>
                    <a:pt x="10277856" y="3880104"/>
                  </a:cubicBezTo>
                  <a:lnTo>
                    <a:pt x="465582" y="3880104"/>
                  </a:lnTo>
                  <a:cubicBezTo>
                    <a:pt x="208407" y="3880104"/>
                    <a:pt x="0" y="3671570"/>
                    <a:pt x="0" y="3414522"/>
                  </a:cubicBezTo>
                  <a:close/>
                </a:path>
              </a:pathLst>
            </a:custGeom>
            <a:solidFill>
              <a:srgbClr val="70A7B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292990" y="5106343"/>
            <a:ext cx="8057588" cy="2910068"/>
            <a:chOff x="0" y="0"/>
            <a:chExt cx="10743451" cy="38800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43438" cy="3880104"/>
            </a:xfrm>
            <a:custGeom>
              <a:avLst/>
              <a:gdLst/>
              <a:ahLst/>
              <a:cxnLst/>
              <a:rect r="r" b="b" t="t" l="l"/>
              <a:pathLst>
                <a:path h="3880104" w="10743438">
                  <a:moveTo>
                    <a:pt x="0" y="465582"/>
                  </a:moveTo>
                  <a:cubicBezTo>
                    <a:pt x="0" y="208407"/>
                    <a:pt x="208407" y="0"/>
                    <a:pt x="465582" y="0"/>
                  </a:cubicBezTo>
                  <a:lnTo>
                    <a:pt x="10277856" y="0"/>
                  </a:lnTo>
                  <a:cubicBezTo>
                    <a:pt x="10535031" y="0"/>
                    <a:pt x="10743438" y="208407"/>
                    <a:pt x="10743438" y="465582"/>
                  </a:cubicBezTo>
                  <a:lnTo>
                    <a:pt x="10743438" y="3414522"/>
                  </a:lnTo>
                  <a:cubicBezTo>
                    <a:pt x="10743438" y="3671697"/>
                    <a:pt x="10535031" y="3880104"/>
                    <a:pt x="10277856" y="3880104"/>
                  </a:cubicBezTo>
                  <a:lnTo>
                    <a:pt x="465582" y="3880104"/>
                  </a:lnTo>
                  <a:cubicBezTo>
                    <a:pt x="208407" y="3880104"/>
                    <a:pt x="0" y="3671570"/>
                    <a:pt x="0" y="3414522"/>
                  </a:cubicBezTo>
                  <a:close/>
                </a:path>
              </a:pathLst>
            </a:custGeom>
            <a:solidFill>
              <a:srgbClr val="70A7B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0872" y="8579206"/>
            <a:ext cx="16417157" cy="713794"/>
            <a:chOff x="0" y="0"/>
            <a:chExt cx="21889542" cy="9517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889492" cy="951738"/>
            </a:xfrm>
            <a:custGeom>
              <a:avLst/>
              <a:gdLst/>
              <a:ahLst/>
              <a:cxnLst/>
              <a:rect r="r" b="b" t="t" l="l"/>
              <a:pathLst>
                <a:path h="951738" w="21889492">
                  <a:moveTo>
                    <a:pt x="0" y="114173"/>
                  </a:moveTo>
                  <a:cubicBezTo>
                    <a:pt x="0" y="51181"/>
                    <a:pt x="50883" y="0"/>
                    <a:pt x="113509" y="0"/>
                  </a:cubicBezTo>
                  <a:lnTo>
                    <a:pt x="21775984" y="0"/>
                  </a:lnTo>
                  <a:cubicBezTo>
                    <a:pt x="21838735" y="0"/>
                    <a:pt x="21889492" y="51181"/>
                    <a:pt x="21889492" y="114173"/>
                  </a:cubicBezTo>
                  <a:lnTo>
                    <a:pt x="21889492" y="837565"/>
                  </a:lnTo>
                  <a:cubicBezTo>
                    <a:pt x="21889492" y="900684"/>
                    <a:pt x="21838608" y="951738"/>
                    <a:pt x="21775984" y="951738"/>
                  </a:cubicBezTo>
                  <a:lnTo>
                    <a:pt x="113509" y="951738"/>
                  </a:lnTo>
                  <a:cubicBezTo>
                    <a:pt x="50883" y="951738"/>
                    <a:pt x="0" y="900557"/>
                    <a:pt x="0" y="837565"/>
                  </a:cubicBezTo>
                  <a:close/>
                </a:path>
              </a:pathLst>
            </a:custGeom>
            <a:solidFill>
              <a:srgbClr val="537B8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82383" y="946766"/>
            <a:ext cx="1677414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224652"/>
                </a:solidFill>
                <a:latin typeface="Lato Bold"/>
                <a:ea typeface="Lato Bold"/>
                <a:cs typeface="Lato Bold"/>
                <a:sym typeface="Lato Bold"/>
              </a:rPr>
              <a:t>Cluster profiling - quan sát, không phán xét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6541" y="2676335"/>
            <a:ext cx="742624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CLUSTER 0 · 931 DÒNG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2815" y="3152565"/>
            <a:ext cx="7453694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1B4A4F"/>
                </a:solidFill>
                <a:latin typeface="Lato Bold"/>
                <a:ea typeface="Lato Bold"/>
                <a:cs typeface="Lato Bold"/>
                <a:sym typeface="Lato Bold"/>
              </a:rPr>
              <a:t>50,86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2815" y="3939188"/>
            <a:ext cx="7467419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37B87"/>
                </a:solidFill>
                <a:latin typeface="Lato"/>
                <a:ea typeface="Lato"/>
                <a:cs typeface="Lato"/>
                <a:sym typeface="Lato"/>
              </a:rPr>
              <a:t>Tuổi thọ trung bình (năm)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08668" y="2676335"/>
            <a:ext cx="7426242" cy="38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b="true" sz="150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CLUSTER 1 · 773 DÒNG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94933" y="3152565"/>
            <a:ext cx="7453694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1B4A4F"/>
                </a:solidFill>
                <a:latin typeface="Lato Bold"/>
                <a:ea typeface="Lato Bold"/>
                <a:cs typeface="Lato Bold"/>
                <a:sym typeface="Lato Bold"/>
              </a:rPr>
              <a:t>69,85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94933" y="3939188"/>
            <a:ext cx="7467419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37B87"/>
                </a:solidFill>
                <a:latin typeface="Lato"/>
                <a:ea typeface="Lato"/>
                <a:cs typeface="Lato"/>
                <a:sym typeface="Lato"/>
              </a:rPr>
              <a:t>Tuổi thọ trung bình (năm)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6541" y="5362565"/>
            <a:ext cx="7426242" cy="47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95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GDP/NGƯỜI TRUNG VỊ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6541" y="6053109"/>
            <a:ext cx="742624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B4A4F"/>
                </a:solidFill>
                <a:latin typeface="Lato"/>
                <a:ea typeface="Lato"/>
                <a:cs typeface="Lato"/>
                <a:sym typeface="Lato"/>
              </a:rPr>
              <a:t>Cụm 0: $1.368  -  Cụm 1: $9.867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08668" y="5362565"/>
            <a:ext cx="7426242" cy="47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b="true" sz="195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TỶ LỆ TUỔI THỌ ≥70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08668" y="6053109"/>
            <a:ext cx="742624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B4A4F"/>
                </a:solidFill>
                <a:latin typeface="Lato"/>
                <a:ea typeface="Lato"/>
                <a:cs typeface="Lato"/>
                <a:sym typeface="Lato"/>
              </a:rPr>
              <a:t>Cụm 0: 2,4%  -  Cụm 1: 61,1%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94178" y="8729815"/>
            <a:ext cx="1585444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Không gọi các cụm là quốc gia “tốt/xấu” và không suy luận chính sách từ sim_health_index.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F8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360693" y="0"/>
            <a:ext cx="6918274" cy="6918274"/>
          </a:xfrm>
          <a:custGeom>
            <a:avLst/>
            <a:gdLst/>
            <a:ahLst/>
            <a:cxnLst/>
            <a:rect r="r" b="b" t="t" l="l"/>
            <a:pathLst>
              <a:path h="6918274" w="6918274">
                <a:moveTo>
                  <a:pt x="0" y="0"/>
                </a:moveTo>
                <a:lnTo>
                  <a:pt x="6918274" y="0"/>
                </a:lnTo>
                <a:lnTo>
                  <a:pt x="6918274" y="6918274"/>
                </a:lnTo>
                <a:lnTo>
                  <a:pt x="0" y="69182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96147" y="1962922"/>
            <a:ext cx="16650519" cy="20593"/>
            <a:chOff x="0" y="0"/>
            <a:chExt cx="22200692" cy="274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00743" cy="27432"/>
            </a:xfrm>
            <a:custGeom>
              <a:avLst/>
              <a:gdLst/>
              <a:ahLst/>
              <a:cxnLst/>
              <a:rect r="r" b="b" t="t" l="l"/>
              <a:pathLst>
                <a:path h="27432" w="22200743">
                  <a:moveTo>
                    <a:pt x="0" y="0"/>
                  </a:moveTo>
                  <a:lnTo>
                    <a:pt x="22200743" y="0"/>
                  </a:lnTo>
                  <a:lnTo>
                    <a:pt x="2220074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70A7B7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9686" y="2264912"/>
            <a:ext cx="9608706" cy="6808451"/>
            <a:chOff x="0" y="0"/>
            <a:chExt cx="12811608" cy="90779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11633" cy="9077961"/>
            </a:xfrm>
            <a:custGeom>
              <a:avLst/>
              <a:gdLst/>
              <a:ahLst/>
              <a:cxnLst/>
              <a:rect r="r" b="b" t="t" l="l"/>
              <a:pathLst>
                <a:path h="9077961" w="12811633">
                  <a:moveTo>
                    <a:pt x="0" y="1089406"/>
                  </a:moveTo>
                  <a:cubicBezTo>
                    <a:pt x="0" y="487680"/>
                    <a:pt x="487680" y="0"/>
                    <a:pt x="1089406" y="0"/>
                  </a:cubicBezTo>
                  <a:lnTo>
                    <a:pt x="11722227" y="0"/>
                  </a:lnTo>
                  <a:cubicBezTo>
                    <a:pt x="12323826" y="0"/>
                    <a:pt x="12811633" y="487680"/>
                    <a:pt x="12811633" y="1089406"/>
                  </a:cubicBezTo>
                  <a:lnTo>
                    <a:pt x="12811633" y="7988554"/>
                  </a:lnTo>
                  <a:cubicBezTo>
                    <a:pt x="12811633" y="8590153"/>
                    <a:pt x="12323953" y="9077961"/>
                    <a:pt x="11722227" y="9077961"/>
                  </a:cubicBezTo>
                  <a:lnTo>
                    <a:pt x="1089406" y="9077961"/>
                  </a:lnTo>
                  <a:cubicBezTo>
                    <a:pt x="487680" y="9077960"/>
                    <a:pt x="0" y="8590280"/>
                    <a:pt x="0" y="7988554"/>
                  </a:cubicBezTo>
                  <a:close/>
                </a:path>
              </a:pathLst>
            </a:custGeom>
            <a:solidFill>
              <a:srgbClr val="83BDC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82392" y="2978696"/>
            <a:ext cx="8683295" cy="5916216"/>
            <a:chOff x="0" y="0"/>
            <a:chExt cx="11577726" cy="7888288"/>
          </a:xfrm>
        </p:grpSpPr>
        <p:sp>
          <p:nvSpPr>
            <p:cNvPr name="Freeform 10" id="10" descr="14_regression_actual_vs_predicted.png"/>
            <p:cNvSpPr/>
            <p:nvPr/>
          </p:nvSpPr>
          <p:spPr>
            <a:xfrm flipH="false" flipV="false" rot="0">
              <a:off x="0" y="0"/>
              <a:ext cx="11577701" cy="7888351"/>
            </a:xfrm>
            <a:custGeom>
              <a:avLst/>
              <a:gdLst/>
              <a:ahLst/>
              <a:cxnLst/>
              <a:rect r="r" b="b" t="t" l="l"/>
              <a:pathLst>
                <a:path h="7888351" w="11577701">
                  <a:moveTo>
                    <a:pt x="0" y="0"/>
                  </a:moveTo>
                  <a:lnTo>
                    <a:pt x="11577701" y="0"/>
                  </a:lnTo>
                  <a:lnTo>
                    <a:pt x="11577701" y="7888351"/>
                  </a:lnTo>
                  <a:lnTo>
                    <a:pt x="0" y="7888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077518" y="3459137"/>
            <a:ext cx="6479010" cy="2017833"/>
            <a:chOff x="0" y="0"/>
            <a:chExt cx="8638680" cy="26904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38667" cy="2690368"/>
            </a:xfrm>
            <a:custGeom>
              <a:avLst/>
              <a:gdLst/>
              <a:ahLst/>
              <a:cxnLst/>
              <a:rect r="r" b="b" t="t" l="l"/>
              <a:pathLst>
                <a:path h="2690368" w="8638667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8315833" y="0"/>
                  </a:lnTo>
                  <a:cubicBezTo>
                    <a:pt x="8494140" y="0"/>
                    <a:pt x="8638667" y="144526"/>
                    <a:pt x="8638667" y="322834"/>
                  </a:cubicBezTo>
                  <a:lnTo>
                    <a:pt x="8638667" y="2367534"/>
                  </a:lnTo>
                  <a:cubicBezTo>
                    <a:pt x="8638667" y="2545842"/>
                    <a:pt x="8494140" y="2690368"/>
                    <a:pt x="8315833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83BDC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077518" y="5806411"/>
            <a:ext cx="6479010" cy="2017833"/>
            <a:chOff x="0" y="0"/>
            <a:chExt cx="8638680" cy="26904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38667" cy="2690368"/>
            </a:xfrm>
            <a:custGeom>
              <a:avLst/>
              <a:gdLst/>
              <a:ahLst/>
              <a:cxnLst/>
              <a:rect r="r" b="b" t="t" l="l"/>
              <a:pathLst>
                <a:path h="2690368" w="8638667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8315833" y="0"/>
                  </a:lnTo>
                  <a:cubicBezTo>
                    <a:pt x="8494140" y="0"/>
                    <a:pt x="8638667" y="144526"/>
                    <a:pt x="8638667" y="322834"/>
                  </a:cubicBezTo>
                  <a:lnTo>
                    <a:pt x="8638667" y="2367534"/>
                  </a:lnTo>
                  <a:cubicBezTo>
                    <a:pt x="8638667" y="2545842"/>
                    <a:pt x="8494140" y="2690368"/>
                    <a:pt x="8315833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83BDC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64784" y="9142000"/>
            <a:ext cx="16513245" cy="713794"/>
            <a:chOff x="0" y="0"/>
            <a:chExt cx="22017660" cy="9517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017610" cy="951738"/>
            </a:xfrm>
            <a:custGeom>
              <a:avLst/>
              <a:gdLst/>
              <a:ahLst/>
              <a:cxnLst/>
              <a:rect r="r" b="b" t="t" l="l"/>
              <a:pathLst>
                <a:path h="951738" w="2201761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21903437" y="0"/>
                  </a:lnTo>
                  <a:cubicBezTo>
                    <a:pt x="21966555" y="0"/>
                    <a:pt x="22017610" y="51181"/>
                    <a:pt x="22017610" y="114173"/>
                  </a:cubicBezTo>
                  <a:lnTo>
                    <a:pt x="22017610" y="837565"/>
                  </a:lnTo>
                  <a:cubicBezTo>
                    <a:pt x="22017610" y="900684"/>
                    <a:pt x="21966428" y="951738"/>
                    <a:pt x="21903437" y="951738"/>
                  </a:cubicBezTo>
                  <a:lnTo>
                    <a:pt x="114173" y="951738"/>
                  </a:lnTo>
                  <a:cubicBezTo>
                    <a:pt x="51181" y="951738"/>
                    <a:pt x="0" y="900557"/>
                    <a:pt x="0" y="837565"/>
                  </a:cubicBezTo>
                  <a:close/>
                </a:path>
              </a:pathLst>
            </a:custGeom>
            <a:solidFill>
              <a:srgbClr val="537B87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0" y="255632"/>
            <a:ext cx="7315200" cy="329184"/>
          </a:xfrm>
          <a:custGeom>
            <a:avLst/>
            <a:gdLst/>
            <a:ahLst/>
            <a:cxnLst/>
            <a:rect r="r" b="b" t="t" l="l"/>
            <a:pathLst>
              <a:path h="329184" w="7315200">
                <a:moveTo>
                  <a:pt x="0" y="0"/>
                </a:moveTo>
                <a:lnTo>
                  <a:pt x="7315200" y="0"/>
                </a:lnTo>
                <a:lnTo>
                  <a:pt x="731520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82383" y="946766"/>
            <a:ext cx="1677414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224652"/>
                </a:solidFill>
                <a:latin typeface="Lato Bold"/>
                <a:ea typeface="Lato Bold"/>
                <a:cs typeface="Lato Bold"/>
                <a:sym typeface="Lato Bold"/>
              </a:rPr>
              <a:t>Regression benchmark - LinearRegression thắng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7913" y="2452497"/>
            <a:ext cx="903227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ACTUAL VS PREDICTED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93186" y="3664658"/>
            <a:ext cx="584767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LINEAR - RMSE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79460" y="4140898"/>
            <a:ext cx="5875125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224652"/>
                </a:solidFill>
                <a:latin typeface="Lato Bold"/>
                <a:ea typeface="Lato Bold"/>
                <a:cs typeface="Lato Bold"/>
                <a:sym typeface="Lato Bold"/>
              </a:rPr>
              <a:t>6,169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79460" y="4927521"/>
            <a:ext cx="588885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85C66"/>
                </a:solidFill>
                <a:latin typeface="Lato"/>
                <a:ea typeface="Lato"/>
                <a:cs typeface="Lato"/>
                <a:sym typeface="Lato"/>
              </a:rPr>
              <a:t>years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93186" y="6011932"/>
            <a:ext cx="584767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LINEAR - R²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79460" y="6488163"/>
            <a:ext cx="5875125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224652"/>
                </a:solidFill>
                <a:latin typeface="Lato Bold"/>
                <a:ea typeface="Lato Bold"/>
                <a:cs typeface="Lato Bold"/>
                <a:sym typeface="Lato Bold"/>
              </a:rPr>
              <a:t>0,778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79460" y="7274785"/>
            <a:ext cx="588885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385C66"/>
                </a:solidFill>
                <a:latin typeface="Lato"/>
                <a:ea typeface="Lato"/>
                <a:cs typeface="Lato"/>
                <a:sym typeface="Lato"/>
              </a:rPr>
              <a:t>Tree RMSE = 6,730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4178" y="9302134"/>
            <a:ext cx="1585444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Test được tách theo 29 quốc gia chưa thấy; RMSE 6,17 năm vẫn là sai số thực tế đáng kể.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7315200" y="217532"/>
            <a:ext cx="7315200" cy="329184"/>
          </a:xfrm>
          <a:custGeom>
            <a:avLst/>
            <a:gdLst/>
            <a:ahLst/>
            <a:cxnLst/>
            <a:rect r="r" b="b" t="t" l="l"/>
            <a:pathLst>
              <a:path h="329184" w="7315200">
                <a:moveTo>
                  <a:pt x="0" y="0"/>
                </a:moveTo>
                <a:lnTo>
                  <a:pt x="7315200" y="0"/>
                </a:lnTo>
                <a:lnTo>
                  <a:pt x="7315200" y="329184"/>
                </a:lnTo>
                <a:lnTo>
                  <a:pt x="0" y="3291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6147" y="1962922"/>
            <a:ext cx="16650519" cy="20593"/>
            <a:chOff x="0" y="0"/>
            <a:chExt cx="22200692" cy="274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00743" cy="27432"/>
            </a:xfrm>
            <a:custGeom>
              <a:avLst/>
              <a:gdLst/>
              <a:ahLst/>
              <a:cxnLst/>
              <a:rect r="r" b="b" t="t" l="l"/>
              <a:pathLst>
                <a:path h="27432" w="22200743">
                  <a:moveTo>
                    <a:pt x="0" y="0"/>
                  </a:moveTo>
                  <a:lnTo>
                    <a:pt x="22200743" y="0"/>
                  </a:lnTo>
                  <a:lnTo>
                    <a:pt x="2220074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83BDC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185187" y="-69810"/>
            <a:ext cx="7388858" cy="4950535"/>
          </a:xfrm>
          <a:custGeom>
            <a:avLst/>
            <a:gdLst/>
            <a:ahLst/>
            <a:cxnLst/>
            <a:rect r="r" b="b" t="t" l="l"/>
            <a:pathLst>
              <a:path h="4950535" w="7388858">
                <a:moveTo>
                  <a:pt x="0" y="0"/>
                </a:moveTo>
                <a:lnTo>
                  <a:pt x="7388858" y="0"/>
                </a:lnTo>
                <a:lnTo>
                  <a:pt x="7388858" y="4950534"/>
                </a:lnTo>
                <a:lnTo>
                  <a:pt x="0" y="495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2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802756" y="5499830"/>
            <a:ext cx="11069474" cy="4151053"/>
          </a:xfrm>
          <a:custGeom>
            <a:avLst/>
            <a:gdLst/>
            <a:ahLst/>
            <a:cxnLst/>
            <a:rect r="r" b="b" t="t" l="l"/>
            <a:pathLst>
              <a:path h="4151053" w="11069474">
                <a:moveTo>
                  <a:pt x="0" y="0"/>
                </a:moveTo>
                <a:lnTo>
                  <a:pt x="11069474" y="0"/>
                </a:lnTo>
                <a:lnTo>
                  <a:pt x="11069474" y="4151053"/>
                </a:lnTo>
                <a:lnTo>
                  <a:pt x="0" y="41510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60872" y="2264912"/>
            <a:ext cx="8579206" cy="6849637"/>
            <a:chOff x="0" y="0"/>
            <a:chExt cx="11438941" cy="91328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8889" cy="9132824"/>
            </a:xfrm>
            <a:custGeom>
              <a:avLst/>
              <a:gdLst/>
              <a:ahLst/>
              <a:cxnLst/>
              <a:rect r="r" b="b" t="t" l="l"/>
              <a:pathLst>
                <a:path h="9132824" w="11438889">
                  <a:moveTo>
                    <a:pt x="0" y="1095883"/>
                  </a:moveTo>
                  <a:cubicBezTo>
                    <a:pt x="0" y="490728"/>
                    <a:pt x="490728" y="0"/>
                    <a:pt x="1095883" y="0"/>
                  </a:cubicBezTo>
                  <a:lnTo>
                    <a:pt x="10343007" y="0"/>
                  </a:lnTo>
                  <a:cubicBezTo>
                    <a:pt x="10948288" y="0"/>
                    <a:pt x="11438889" y="490728"/>
                    <a:pt x="11438889" y="1095883"/>
                  </a:cubicBezTo>
                  <a:lnTo>
                    <a:pt x="11438889" y="8036941"/>
                  </a:lnTo>
                  <a:cubicBezTo>
                    <a:pt x="11438889" y="8642223"/>
                    <a:pt x="10948162" y="9132824"/>
                    <a:pt x="10343007" y="9132824"/>
                  </a:cubicBezTo>
                  <a:lnTo>
                    <a:pt x="1095883" y="9132824"/>
                  </a:lnTo>
                  <a:cubicBezTo>
                    <a:pt x="490728" y="9132824"/>
                    <a:pt x="0" y="8642223"/>
                    <a:pt x="0" y="8036941"/>
                  </a:cubicBezTo>
                  <a:close/>
                </a:path>
              </a:pathLst>
            </a:custGeom>
            <a:solidFill>
              <a:srgbClr val="E6F9F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81309" y="2978696"/>
            <a:ext cx="7538323" cy="5957402"/>
            <a:chOff x="0" y="0"/>
            <a:chExt cx="10051098" cy="7943202"/>
          </a:xfrm>
        </p:grpSpPr>
        <p:sp>
          <p:nvSpPr>
            <p:cNvPr name="Freeform 9" id="9" descr="16_confusion_matrix.png"/>
            <p:cNvSpPr/>
            <p:nvPr/>
          </p:nvSpPr>
          <p:spPr>
            <a:xfrm flipH="false" flipV="false" rot="0">
              <a:off x="0" y="0"/>
              <a:ext cx="10051161" cy="7943215"/>
            </a:xfrm>
            <a:custGeom>
              <a:avLst/>
              <a:gdLst/>
              <a:ahLst/>
              <a:cxnLst/>
              <a:rect r="r" b="b" t="t" l="l"/>
              <a:pathLst>
                <a:path h="7943215" w="10051161">
                  <a:moveTo>
                    <a:pt x="0" y="0"/>
                  </a:moveTo>
                  <a:lnTo>
                    <a:pt x="10051161" y="0"/>
                  </a:lnTo>
                  <a:lnTo>
                    <a:pt x="10051161" y="7943215"/>
                  </a:lnTo>
                  <a:lnTo>
                    <a:pt x="0" y="7943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01780" y="3296688"/>
            <a:ext cx="7357520" cy="2017833"/>
            <a:chOff x="0" y="0"/>
            <a:chExt cx="9810026" cy="26904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09988" cy="2690368"/>
            </a:xfrm>
            <a:custGeom>
              <a:avLst/>
              <a:gdLst/>
              <a:ahLst/>
              <a:cxnLst/>
              <a:rect r="r" b="b" t="t" l="l"/>
              <a:pathLst>
                <a:path h="2690368" w="9809988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9487153" y="0"/>
                  </a:lnTo>
                  <a:cubicBezTo>
                    <a:pt x="9665462" y="0"/>
                    <a:pt x="9809988" y="144526"/>
                    <a:pt x="9809988" y="322834"/>
                  </a:cubicBezTo>
                  <a:lnTo>
                    <a:pt x="9809988" y="2367534"/>
                  </a:lnTo>
                  <a:cubicBezTo>
                    <a:pt x="9809988" y="2545842"/>
                    <a:pt x="9665462" y="2690368"/>
                    <a:pt x="9487153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E6F9F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01780" y="5685139"/>
            <a:ext cx="7357520" cy="2017833"/>
            <a:chOff x="0" y="0"/>
            <a:chExt cx="9810026" cy="26904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809988" cy="2690368"/>
            </a:xfrm>
            <a:custGeom>
              <a:avLst/>
              <a:gdLst/>
              <a:ahLst/>
              <a:cxnLst/>
              <a:rect r="r" b="b" t="t" l="l"/>
              <a:pathLst>
                <a:path h="2690368" w="9809988">
                  <a:moveTo>
                    <a:pt x="0" y="322834"/>
                  </a:moveTo>
                  <a:cubicBezTo>
                    <a:pt x="0" y="144526"/>
                    <a:pt x="144526" y="0"/>
                    <a:pt x="322834" y="0"/>
                  </a:cubicBezTo>
                  <a:lnTo>
                    <a:pt x="9487153" y="0"/>
                  </a:lnTo>
                  <a:cubicBezTo>
                    <a:pt x="9665462" y="0"/>
                    <a:pt x="9809988" y="144526"/>
                    <a:pt x="9809988" y="322834"/>
                  </a:cubicBezTo>
                  <a:lnTo>
                    <a:pt x="9809988" y="2367534"/>
                  </a:lnTo>
                  <a:cubicBezTo>
                    <a:pt x="9809988" y="2545842"/>
                    <a:pt x="9665462" y="2690368"/>
                    <a:pt x="9487153" y="2690368"/>
                  </a:cubicBezTo>
                  <a:lnTo>
                    <a:pt x="322834" y="2690368"/>
                  </a:lnTo>
                  <a:cubicBezTo>
                    <a:pt x="144526" y="2690495"/>
                    <a:pt x="0" y="2545842"/>
                    <a:pt x="0" y="2367534"/>
                  </a:cubicBezTo>
                  <a:close/>
                </a:path>
              </a:pathLst>
            </a:custGeom>
            <a:solidFill>
              <a:srgbClr val="E6F9F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64784" y="9183176"/>
            <a:ext cx="16513245" cy="713794"/>
            <a:chOff x="0" y="0"/>
            <a:chExt cx="22017660" cy="9517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017610" cy="951738"/>
            </a:xfrm>
            <a:custGeom>
              <a:avLst/>
              <a:gdLst/>
              <a:ahLst/>
              <a:cxnLst/>
              <a:rect r="r" b="b" t="t" l="l"/>
              <a:pathLst>
                <a:path h="951738" w="2201761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21903437" y="0"/>
                  </a:lnTo>
                  <a:cubicBezTo>
                    <a:pt x="21966555" y="0"/>
                    <a:pt x="22017610" y="51181"/>
                    <a:pt x="22017610" y="114173"/>
                  </a:cubicBezTo>
                  <a:lnTo>
                    <a:pt x="22017610" y="837565"/>
                  </a:lnTo>
                  <a:cubicBezTo>
                    <a:pt x="22017610" y="900684"/>
                    <a:pt x="21966428" y="951738"/>
                    <a:pt x="21903437" y="951738"/>
                  </a:cubicBezTo>
                  <a:lnTo>
                    <a:pt x="114173" y="951738"/>
                  </a:lnTo>
                  <a:cubicBezTo>
                    <a:pt x="51181" y="951738"/>
                    <a:pt x="0" y="900557"/>
                    <a:pt x="0" y="837565"/>
                  </a:cubicBezTo>
                  <a:close/>
                </a:path>
              </a:pathLst>
            </a:custGeom>
            <a:solidFill>
              <a:srgbClr val="AED3D9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82383" y="946766"/>
            <a:ext cx="1677414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10243B"/>
                </a:solidFill>
                <a:latin typeface="Lato Bold"/>
                <a:ea typeface="Lato Bold"/>
                <a:cs typeface="Lato Bold"/>
                <a:sym typeface="Lato Bold"/>
              </a:rPr>
              <a:t>Classification - LogisticRegression thắng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9089" y="2442972"/>
            <a:ext cx="800276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b="true" sz="2101">
                <a:solidFill>
                  <a:srgbClr val="1B4A4F"/>
                </a:solidFill>
                <a:latin typeface="Lato Bold"/>
                <a:ea typeface="Lato Bold"/>
                <a:cs typeface="Lato Bold"/>
                <a:sym typeface="Lato Bold"/>
              </a:rPr>
              <a:t>CONFUSION MATRIX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17448" y="3502209"/>
            <a:ext cx="672618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b="true" sz="2101">
                <a:solidFill>
                  <a:srgbClr val="385C66"/>
                </a:solidFill>
                <a:latin typeface="Lato Bold"/>
                <a:ea typeface="Lato Bold"/>
                <a:cs typeface="Lato Bold"/>
                <a:sym typeface="Lato Bold"/>
              </a:rPr>
              <a:t>ACCURACY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03723" y="3978440"/>
            <a:ext cx="6753635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87,07%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03723" y="4765072"/>
            <a:ext cx="676736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5BBCA"/>
                </a:solidFill>
                <a:latin typeface="Lato"/>
                <a:ea typeface="Lato"/>
                <a:cs typeface="Lato"/>
                <a:sym typeface="Lato"/>
              </a:rPr>
              <a:t>vs Tree 85,06%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17448" y="5890660"/>
            <a:ext cx="672618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b="true" sz="2101">
                <a:solidFill>
                  <a:srgbClr val="1B4A4F"/>
                </a:solidFill>
                <a:latin typeface="Lato Bold"/>
                <a:ea typeface="Lato Bold"/>
                <a:cs typeface="Lato Bold"/>
                <a:sym typeface="Lato Bold"/>
              </a:rPr>
              <a:t>F1 MACRO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03723" y="6366891"/>
            <a:ext cx="6753635" cy="709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b="true" sz="4803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0,845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03723" y="7153523"/>
            <a:ext cx="676736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A5BBCA"/>
                </a:solidFill>
                <a:latin typeface="Lato"/>
                <a:ea typeface="Lato"/>
                <a:cs typeface="Lato"/>
                <a:sym typeface="Lato"/>
              </a:rPr>
              <a:t>vs Tree 0,820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4178" y="9343320"/>
            <a:ext cx="1585444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class_weight="balanced" khi nhãn mất cân bằng; F1 macro được dùng chọn mô hình.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920" y="-8039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F8FA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392080" y="113759"/>
            <a:ext cx="13895920" cy="10282980"/>
          </a:xfrm>
          <a:custGeom>
            <a:avLst/>
            <a:gdLst/>
            <a:ahLst/>
            <a:cxnLst/>
            <a:rect r="r" b="b" t="t" l="l"/>
            <a:pathLst>
              <a:path h="10282980" w="13895920">
                <a:moveTo>
                  <a:pt x="0" y="0"/>
                </a:moveTo>
                <a:lnTo>
                  <a:pt x="13895920" y="0"/>
                </a:lnTo>
                <a:lnTo>
                  <a:pt x="13895920" y="10282981"/>
                </a:lnTo>
                <a:lnTo>
                  <a:pt x="0" y="102829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18740" y="1326780"/>
            <a:ext cx="16650519" cy="20593"/>
            <a:chOff x="0" y="0"/>
            <a:chExt cx="22200692" cy="274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00743" cy="27432"/>
            </a:xfrm>
            <a:custGeom>
              <a:avLst/>
              <a:gdLst/>
              <a:ahLst/>
              <a:cxnLst/>
              <a:rect r="r" b="b" t="t" l="l"/>
              <a:pathLst>
                <a:path h="27432" w="22200743">
                  <a:moveTo>
                    <a:pt x="0" y="0"/>
                  </a:moveTo>
                  <a:lnTo>
                    <a:pt x="22200743" y="0"/>
                  </a:lnTo>
                  <a:lnTo>
                    <a:pt x="2220074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AED3D9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97045" y="2169328"/>
            <a:ext cx="16362255" cy="6808451"/>
            <a:chOff x="0" y="0"/>
            <a:chExt cx="21816339" cy="90779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16442" cy="9077961"/>
            </a:xfrm>
            <a:custGeom>
              <a:avLst/>
              <a:gdLst/>
              <a:ahLst/>
              <a:cxnLst/>
              <a:rect r="r" b="b" t="t" l="l"/>
              <a:pathLst>
                <a:path h="9077961" w="21816442">
                  <a:moveTo>
                    <a:pt x="0" y="1089406"/>
                  </a:moveTo>
                  <a:cubicBezTo>
                    <a:pt x="0" y="487680"/>
                    <a:pt x="487680" y="0"/>
                    <a:pt x="1089406" y="0"/>
                  </a:cubicBezTo>
                  <a:lnTo>
                    <a:pt x="20727036" y="0"/>
                  </a:lnTo>
                  <a:cubicBezTo>
                    <a:pt x="21328635" y="0"/>
                    <a:pt x="21816442" y="487680"/>
                    <a:pt x="21816442" y="1089406"/>
                  </a:cubicBezTo>
                  <a:lnTo>
                    <a:pt x="21816442" y="7988554"/>
                  </a:lnTo>
                  <a:cubicBezTo>
                    <a:pt x="21816442" y="8590153"/>
                    <a:pt x="21328762" y="9077961"/>
                    <a:pt x="20727036" y="9077961"/>
                  </a:cubicBezTo>
                  <a:lnTo>
                    <a:pt x="1089406" y="9077961"/>
                  </a:lnTo>
                  <a:cubicBezTo>
                    <a:pt x="487680" y="9077960"/>
                    <a:pt x="0" y="8590280"/>
                    <a:pt x="0" y="7988554"/>
                  </a:cubicBezTo>
                  <a:close/>
                </a:path>
              </a:pathLst>
            </a:custGeom>
            <a:solidFill>
              <a:srgbClr val="10243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85484" y="2197903"/>
            <a:ext cx="15084169" cy="6779876"/>
            <a:chOff x="0" y="0"/>
            <a:chExt cx="19347780" cy="8696240"/>
          </a:xfrm>
        </p:grpSpPr>
        <p:sp>
          <p:nvSpPr>
            <p:cNvPr name="Freeform 10" id="10" descr="01_UI_Du_doan_Asia.png"/>
            <p:cNvSpPr/>
            <p:nvPr/>
          </p:nvSpPr>
          <p:spPr>
            <a:xfrm flipH="false" flipV="false" rot="0">
              <a:off x="0" y="0"/>
              <a:ext cx="19347766" cy="8696303"/>
            </a:xfrm>
            <a:custGeom>
              <a:avLst/>
              <a:gdLst/>
              <a:ahLst/>
              <a:cxnLst/>
              <a:rect r="r" b="b" t="t" l="l"/>
              <a:pathLst>
                <a:path h="8696303" w="19347766">
                  <a:moveTo>
                    <a:pt x="0" y="0"/>
                  </a:moveTo>
                  <a:lnTo>
                    <a:pt x="19347766" y="0"/>
                  </a:lnTo>
                  <a:lnTo>
                    <a:pt x="19347766" y="8696303"/>
                  </a:lnTo>
                  <a:lnTo>
                    <a:pt x="0" y="8696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346" r="0" b="-21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64784" y="9142000"/>
            <a:ext cx="16513245" cy="713794"/>
            <a:chOff x="0" y="0"/>
            <a:chExt cx="22017660" cy="9517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17610" cy="951738"/>
            </a:xfrm>
            <a:custGeom>
              <a:avLst/>
              <a:gdLst/>
              <a:ahLst/>
              <a:cxnLst/>
              <a:rect r="r" b="b" t="t" l="l"/>
              <a:pathLst>
                <a:path h="951738" w="2201761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21903437" y="0"/>
                  </a:lnTo>
                  <a:cubicBezTo>
                    <a:pt x="21966555" y="0"/>
                    <a:pt x="22017610" y="51181"/>
                    <a:pt x="22017610" y="114173"/>
                  </a:cubicBezTo>
                  <a:lnTo>
                    <a:pt x="22017610" y="837565"/>
                  </a:lnTo>
                  <a:cubicBezTo>
                    <a:pt x="22017610" y="900684"/>
                    <a:pt x="21966428" y="951738"/>
                    <a:pt x="21903437" y="951738"/>
                  </a:cubicBezTo>
                  <a:lnTo>
                    <a:pt x="114173" y="951738"/>
                  </a:lnTo>
                  <a:cubicBezTo>
                    <a:pt x="51181" y="951738"/>
                    <a:pt x="0" y="900557"/>
                    <a:pt x="0" y="837565"/>
                  </a:cubicBezTo>
                  <a:close/>
                </a:path>
              </a:pathLst>
            </a:custGeom>
            <a:solidFill>
              <a:srgbClr val="152E4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18740" y="517155"/>
            <a:ext cx="967232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1B4A4F"/>
                </a:solidFill>
                <a:latin typeface="Lato Bold"/>
                <a:ea typeface="Lato Bold"/>
                <a:cs typeface="Lato Bold"/>
                <a:sym typeface="Lato Bold"/>
              </a:rPr>
              <a:t>Giao diện Gradio - nhập liệu và dự đoán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5484" y="1635928"/>
            <a:ext cx="518997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b="true" sz="2499">
                <a:solidFill>
                  <a:srgbClr val="385C66"/>
                </a:solidFill>
                <a:latin typeface="Lato Bold"/>
                <a:ea typeface="Lato Bold"/>
                <a:cs typeface="Lato Bold"/>
                <a:sym typeface="Lato Bold"/>
              </a:rPr>
              <a:t>SCREENSHOT - PREDICTION TAB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4178" y="9302134"/>
            <a:ext cx="1585444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Demo: Asia năm 2002 → 67,0 năm                          P(class ≥70)=79,6%                                                   K-Means cluster 0.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966540" y="-353359"/>
            <a:ext cx="11069474" cy="4151053"/>
          </a:xfrm>
          <a:custGeom>
            <a:avLst/>
            <a:gdLst/>
            <a:ahLst/>
            <a:cxnLst/>
            <a:rect r="r" b="b" t="t" l="l"/>
            <a:pathLst>
              <a:path h="4151053" w="11069474">
                <a:moveTo>
                  <a:pt x="11069473" y="0"/>
                </a:moveTo>
                <a:lnTo>
                  <a:pt x="0" y="0"/>
                </a:lnTo>
                <a:lnTo>
                  <a:pt x="0" y="4151053"/>
                </a:lnTo>
                <a:lnTo>
                  <a:pt x="11069473" y="4151053"/>
                </a:lnTo>
                <a:lnTo>
                  <a:pt x="11069473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3615" y="6633543"/>
            <a:ext cx="11069474" cy="4151053"/>
          </a:xfrm>
          <a:custGeom>
            <a:avLst/>
            <a:gdLst/>
            <a:ahLst/>
            <a:cxnLst/>
            <a:rect r="r" b="b" t="t" l="l"/>
            <a:pathLst>
              <a:path h="4151053" w="11069474">
                <a:moveTo>
                  <a:pt x="0" y="0"/>
                </a:moveTo>
                <a:lnTo>
                  <a:pt x="11069474" y="0"/>
                </a:lnTo>
                <a:lnTo>
                  <a:pt x="11069474" y="4151053"/>
                </a:lnTo>
                <a:lnTo>
                  <a:pt x="0" y="4151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2383" y="248422"/>
            <a:ext cx="1677414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1B4A4F"/>
                </a:solidFill>
                <a:latin typeface="Lato Bold"/>
                <a:ea typeface="Lato Bold"/>
                <a:cs typeface="Lato Bold"/>
                <a:sym typeface="Lato Bold"/>
              </a:rPr>
              <a:t>Visualization tab - trực quan hóa AI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96147" y="1051731"/>
            <a:ext cx="16650519" cy="20593"/>
            <a:chOff x="0" y="0"/>
            <a:chExt cx="22200692" cy="274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00743" cy="27432"/>
            </a:xfrm>
            <a:custGeom>
              <a:avLst/>
              <a:gdLst/>
              <a:ahLst/>
              <a:cxnLst/>
              <a:rect r="r" b="b" t="t" l="l"/>
              <a:pathLst>
                <a:path h="27432" w="22200743">
                  <a:moveTo>
                    <a:pt x="0" y="0"/>
                  </a:moveTo>
                  <a:lnTo>
                    <a:pt x="22200743" y="0"/>
                  </a:lnTo>
                  <a:lnTo>
                    <a:pt x="2220074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83BDC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15775" y="1722168"/>
            <a:ext cx="16252441" cy="6808451"/>
            <a:chOff x="0" y="0"/>
            <a:chExt cx="21669921" cy="90779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70011" cy="9077961"/>
            </a:xfrm>
            <a:custGeom>
              <a:avLst/>
              <a:gdLst/>
              <a:ahLst/>
              <a:cxnLst/>
              <a:rect r="r" b="b" t="t" l="l"/>
              <a:pathLst>
                <a:path h="9077961" w="21670011">
                  <a:moveTo>
                    <a:pt x="0" y="1089406"/>
                  </a:moveTo>
                  <a:cubicBezTo>
                    <a:pt x="0" y="487680"/>
                    <a:pt x="487680" y="0"/>
                    <a:pt x="1089406" y="0"/>
                  </a:cubicBezTo>
                  <a:lnTo>
                    <a:pt x="20580604" y="0"/>
                  </a:lnTo>
                  <a:cubicBezTo>
                    <a:pt x="21182203" y="0"/>
                    <a:pt x="21670011" y="487680"/>
                    <a:pt x="21670011" y="1089406"/>
                  </a:cubicBezTo>
                  <a:lnTo>
                    <a:pt x="21670011" y="7988554"/>
                  </a:lnTo>
                  <a:cubicBezTo>
                    <a:pt x="21670011" y="8590153"/>
                    <a:pt x="21182330" y="9077961"/>
                    <a:pt x="20580604" y="9077961"/>
                  </a:cubicBezTo>
                  <a:lnTo>
                    <a:pt x="1089406" y="9077961"/>
                  </a:lnTo>
                  <a:cubicBezTo>
                    <a:pt x="487680" y="9077960"/>
                    <a:pt x="0" y="8590280"/>
                    <a:pt x="0" y="7988554"/>
                  </a:cubicBezTo>
                  <a:close/>
                </a:path>
              </a:pathLst>
            </a:custGeom>
            <a:solidFill>
              <a:srgbClr val="10243B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92209" y="1253300"/>
            <a:ext cx="665653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385C66"/>
                </a:solidFill>
                <a:latin typeface="Lato Bold"/>
                <a:ea typeface="Lato Bold"/>
                <a:cs typeface="Lato Bold"/>
                <a:sym typeface="Lato Bold"/>
              </a:rPr>
              <a:t>SCATTER / TREND / PCA / K-MEANS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927452" y="1722168"/>
            <a:ext cx="14429085" cy="6808451"/>
            <a:chOff x="0" y="0"/>
            <a:chExt cx="18525291" cy="8741270"/>
          </a:xfrm>
        </p:grpSpPr>
        <p:sp>
          <p:nvSpPr>
            <p:cNvPr name="Freeform 11" id="11" descr="02_UI_Truc_quan_hoa.png"/>
            <p:cNvSpPr/>
            <p:nvPr/>
          </p:nvSpPr>
          <p:spPr>
            <a:xfrm flipH="false" flipV="false" rot="0">
              <a:off x="0" y="0"/>
              <a:ext cx="18525261" cy="8741334"/>
            </a:xfrm>
            <a:custGeom>
              <a:avLst/>
              <a:gdLst/>
              <a:ahLst/>
              <a:cxnLst/>
              <a:rect r="r" b="b" t="t" l="l"/>
              <a:pathLst>
                <a:path h="8741334" w="18525261">
                  <a:moveTo>
                    <a:pt x="0" y="0"/>
                  </a:moveTo>
                  <a:lnTo>
                    <a:pt x="18525261" y="0"/>
                  </a:lnTo>
                  <a:lnTo>
                    <a:pt x="18525261" y="8741334"/>
                  </a:lnTo>
                  <a:lnTo>
                    <a:pt x="0" y="8741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75" r="0" b="-47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64784" y="9034096"/>
            <a:ext cx="16513245" cy="713794"/>
            <a:chOff x="0" y="0"/>
            <a:chExt cx="22017660" cy="9517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017610" cy="951738"/>
            </a:xfrm>
            <a:custGeom>
              <a:avLst/>
              <a:gdLst/>
              <a:ahLst/>
              <a:cxnLst/>
              <a:rect r="r" b="b" t="t" l="l"/>
              <a:pathLst>
                <a:path h="951738" w="2201761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21903437" y="0"/>
                  </a:lnTo>
                  <a:cubicBezTo>
                    <a:pt x="21966555" y="0"/>
                    <a:pt x="22017610" y="51181"/>
                    <a:pt x="22017610" y="114173"/>
                  </a:cubicBezTo>
                  <a:lnTo>
                    <a:pt x="22017610" y="837565"/>
                  </a:lnTo>
                  <a:cubicBezTo>
                    <a:pt x="22017610" y="900684"/>
                    <a:pt x="21966428" y="951738"/>
                    <a:pt x="21903437" y="951738"/>
                  </a:cubicBezTo>
                  <a:lnTo>
                    <a:pt x="114173" y="951738"/>
                  </a:lnTo>
                  <a:cubicBezTo>
                    <a:pt x="51181" y="951738"/>
                    <a:pt x="0" y="900557"/>
                    <a:pt x="0" y="837565"/>
                  </a:cubicBezTo>
                  <a:close/>
                </a:path>
              </a:pathLst>
            </a:custGeom>
            <a:solidFill>
              <a:srgbClr val="152E4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94178" y="9194239"/>
            <a:ext cx="1585444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Bằng chứng UI chạy thành công; biểu đồ Elbow/Silhouette đầy đủ trong charts và Notebook.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2383" y="85725"/>
            <a:ext cx="1677414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b="true" sz="4053">
                <a:solidFill>
                  <a:srgbClr val="1B4A4F"/>
                </a:solidFill>
                <a:latin typeface="Lato Bold"/>
                <a:ea typeface="Lato Bold"/>
                <a:cs typeface="Lato Bold"/>
                <a:sym typeface="Lato Bold"/>
              </a:rPr>
              <a:t>Evaluation + Data source tabs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2384" y="739683"/>
            <a:ext cx="16650519" cy="20593"/>
            <a:chOff x="0" y="0"/>
            <a:chExt cx="22200692" cy="27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00743" cy="27432"/>
            </a:xfrm>
            <a:custGeom>
              <a:avLst/>
              <a:gdLst/>
              <a:ahLst/>
              <a:cxnLst/>
              <a:rect r="r" b="b" t="t" l="l"/>
              <a:pathLst>
                <a:path h="27432" w="22200743">
                  <a:moveTo>
                    <a:pt x="0" y="0"/>
                  </a:moveTo>
                  <a:lnTo>
                    <a:pt x="22200743" y="0"/>
                  </a:lnTo>
                  <a:lnTo>
                    <a:pt x="2220074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AED3D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82384" y="1557109"/>
            <a:ext cx="16774144" cy="7312886"/>
            <a:chOff x="0" y="0"/>
            <a:chExt cx="22365526" cy="9750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65577" cy="9750540"/>
            </a:xfrm>
            <a:custGeom>
              <a:avLst/>
              <a:gdLst/>
              <a:ahLst/>
              <a:cxnLst/>
              <a:rect r="r" b="b" t="t" l="l"/>
              <a:pathLst>
                <a:path h="9750540" w="22365577">
                  <a:moveTo>
                    <a:pt x="0" y="1170071"/>
                  </a:moveTo>
                  <a:cubicBezTo>
                    <a:pt x="0" y="523906"/>
                    <a:pt x="975399" y="0"/>
                    <a:pt x="2178417" y="0"/>
                  </a:cubicBezTo>
                  <a:lnTo>
                    <a:pt x="20187213" y="0"/>
                  </a:lnTo>
                  <a:cubicBezTo>
                    <a:pt x="21390231" y="0"/>
                    <a:pt x="22365577" y="523906"/>
                    <a:pt x="22365577" y="1170071"/>
                  </a:cubicBezTo>
                  <a:lnTo>
                    <a:pt x="22365577" y="8580472"/>
                  </a:lnTo>
                  <a:cubicBezTo>
                    <a:pt x="22365577" y="9226636"/>
                    <a:pt x="21390231" y="9750540"/>
                    <a:pt x="20187213" y="9750540"/>
                  </a:cubicBezTo>
                  <a:lnTo>
                    <a:pt x="2178417" y="9750540"/>
                  </a:lnTo>
                  <a:cubicBezTo>
                    <a:pt x="975399" y="9750540"/>
                    <a:pt x="0" y="9226636"/>
                    <a:pt x="0" y="8580472"/>
                  </a:cubicBezTo>
                  <a:close/>
                </a:path>
              </a:pathLst>
            </a:custGeom>
            <a:solidFill>
              <a:srgbClr val="1024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7841275" y="939617"/>
            <a:ext cx="260544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385C66"/>
                </a:solidFill>
                <a:latin typeface="Lato Bold"/>
                <a:ea typeface="Lato Bold"/>
                <a:cs typeface="Lato Bold"/>
                <a:sym typeface="Lato Bold"/>
              </a:rPr>
              <a:t>BENCHMARKS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949645" y="1600036"/>
            <a:ext cx="14407119" cy="7139948"/>
            <a:chOff x="0" y="0"/>
            <a:chExt cx="19209492" cy="9519931"/>
          </a:xfrm>
        </p:grpSpPr>
        <p:sp>
          <p:nvSpPr>
            <p:cNvPr name="Freeform 9" id="9" descr="03_UI_Ket_qua_danh_gia.png"/>
            <p:cNvSpPr/>
            <p:nvPr/>
          </p:nvSpPr>
          <p:spPr>
            <a:xfrm flipH="false" flipV="false" rot="0">
              <a:off x="0" y="0"/>
              <a:ext cx="19209505" cy="9519858"/>
            </a:xfrm>
            <a:custGeom>
              <a:avLst/>
              <a:gdLst/>
              <a:ahLst/>
              <a:cxnLst/>
              <a:rect r="r" b="b" t="t" l="l"/>
              <a:pathLst>
                <a:path h="9519858" w="19209505">
                  <a:moveTo>
                    <a:pt x="0" y="0"/>
                  </a:moveTo>
                  <a:lnTo>
                    <a:pt x="19209505" y="0"/>
                  </a:lnTo>
                  <a:lnTo>
                    <a:pt x="19209505" y="9519858"/>
                  </a:lnTo>
                  <a:lnTo>
                    <a:pt x="0" y="9519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96" t="0" r="-179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7378" y="9068781"/>
            <a:ext cx="16513245" cy="713794"/>
            <a:chOff x="0" y="0"/>
            <a:chExt cx="22017660" cy="9517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17610" cy="951738"/>
            </a:xfrm>
            <a:custGeom>
              <a:avLst/>
              <a:gdLst/>
              <a:ahLst/>
              <a:cxnLst/>
              <a:rect r="r" b="b" t="t" l="l"/>
              <a:pathLst>
                <a:path h="951738" w="2201761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21903437" y="0"/>
                  </a:lnTo>
                  <a:cubicBezTo>
                    <a:pt x="21966555" y="0"/>
                    <a:pt x="22017610" y="51181"/>
                    <a:pt x="22017610" y="114173"/>
                  </a:cubicBezTo>
                  <a:lnTo>
                    <a:pt x="22017610" y="837565"/>
                  </a:lnTo>
                  <a:cubicBezTo>
                    <a:pt x="22017610" y="900684"/>
                    <a:pt x="21966428" y="951738"/>
                    <a:pt x="21903437" y="951738"/>
                  </a:cubicBezTo>
                  <a:lnTo>
                    <a:pt x="114173" y="951738"/>
                  </a:lnTo>
                  <a:cubicBezTo>
                    <a:pt x="51181" y="951738"/>
                    <a:pt x="0" y="900557"/>
                    <a:pt x="0" y="837565"/>
                  </a:cubicBezTo>
                  <a:close/>
                </a:path>
              </a:pathLst>
            </a:custGeom>
            <a:solidFill>
              <a:srgbClr val="152E43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16771" y="9228925"/>
            <a:ext cx="15854448" cy="420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Chụp màn hình từ môi trường Windows/Gradio của nhóm, không phải mockup thiết kế.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2383" y="85725"/>
            <a:ext cx="1677414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b="true" sz="4053">
                <a:solidFill>
                  <a:srgbClr val="1B4A4F"/>
                </a:solidFill>
                <a:latin typeface="Lato Bold"/>
                <a:ea typeface="Lato Bold"/>
                <a:cs typeface="Lato Bold"/>
                <a:sym typeface="Lato Bold"/>
              </a:rPr>
              <a:t>Evaluation + Data source tabs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2384" y="739683"/>
            <a:ext cx="16650519" cy="20593"/>
            <a:chOff x="0" y="0"/>
            <a:chExt cx="22200692" cy="27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00743" cy="27432"/>
            </a:xfrm>
            <a:custGeom>
              <a:avLst/>
              <a:gdLst/>
              <a:ahLst/>
              <a:cxnLst/>
              <a:rect r="r" b="b" t="t" l="l"/>
              <a:pathLst>
                <a:path h="27432" w="22200743">
                  <a:moveTo>
                    <a:pt x="0" y="0"/>
                  </a:moveTo>
                  <a:lnTo>
                    <a:pt x="22200743" y="0"/>
                  </a:lnTo>
                  <a:lnTo>
                    <a:pt x="2220074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AED3D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82384" y="1557109"/>
            <a:ext cx="16774144" cy="7312886"/>
            <a:chOff x="0" y="0"/>
            <a:chExt cx="22365526" cy="97505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365577" cy="9750540"/>
            </a:xfrm>
            <a:custGeom>
              <a:avLst/>
              <a:gdLst/>
              <a:ahLst/>
              <a:cxnLst/>
              <a:rect r="r" b="b" t="t" l="l"/>
              <a:pathLst>
                <a:path h="9750540" w="22365577">
                  <a:moveTo>
                    <a:pt x="0" y="1170071"/>
                  </a:moveTo>
                  <a:cubicBezTo>
                    <a:pt x="0" y="523906"/>
                    <a:pt x="975399" y="0"/>
                    <a:pt x="2178417" y="0"/>
                  </a:cubicBezTo>
                  <a:lnTo>
                    <a:pt x="20187213" y="0"/>
                  </a:lnTo>
                  <a:cubicBezTo>
                    <a:pt x="21390231" y="0"/>
                    <a:pt x="22365577" y="523906"/>
                    <a:pt x="22365577" y="1170071"/>
                  </a:cubicBezTo>
                  <a:lnTo>
                    <a:pt x="22365577" y="8580472"/>
                  </a:lnTo>
                  <a:cubicBezTo>
                    <a:pt x="22365577" y="9226636"/>
                    <a:pt x="21390231" y="9750540"/>
                    <a:pt x="20187213" y="9750540"/>
                  </a:cubicBezTo>
                  <a:lnTo>
                    <a:pt x="2178417" y="9750540"/>
                  </a:lnTo>
                  <a:cubicBezTo>
                    <a:pt x="975399" y="9750540"/>
                    <a:pt x="0" y="9226636"/>
                    <a:pt x="0" y="8580472"/>
                  </a:cubicBezTo>
                  <a:close/>
                </a:path>
              </a:pathLst>
            </a:custGeom>
            <a:solidFill>
              <a:srgbClr val="10243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7187374" y="939617"/>
            <a:ext cx="411681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385C66"/>
                </a:solidFill>
                <a:latin typeface="Lato Bold"/>
                <a:ea typeface="Lato Bold"/>
                <a:cs typeface="Lato Bold"/>
                <a:sym typeface="Lato Bold"/>
              </a:rPr>
              <a:t>SOURC</a:t>
            </a:r>
            <a:r>
              <a:rPr lang="en-US" b="true" sz="2799">
                <a:solidFill>
                  <a:srgbClr val="385C66"/>
                </a:solidFill>
                <a:latin typeface="Lato Bold"/>
                <a:ea typeface="Lato Bold"/>
                <a:cs typeface="Lato Bold"/>
                <a:sym typeface="Lato Bold"/>
              </a:rPr>
              <a:t>E + LIMITATIONS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7378" y="9068781"/>
            <a:ext cx="16513245" cy="713794"/>
            <a:chOff x="0" y="0"/>
            <a:chExt cx="22017660" cy="951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017610" cy="951738"/>
            </a:xfrm>
            <a:custGeom>
              <a:avLst/>
              <a:gdLst/>
              <a:ahLst/>
              <a:cxnLst/>
              <a:rect r="r" b="b" t="t" l="l"/>
              <a:pathLst>
                <a:path h="951738" w="22017610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21903437" y="0"/>
                  </a:lnTo>
                  <a:cubicBezTo>
                    <a:pt x="21966555" y="0"/>
                    <a:pt x="22017610" y="51181"/>
                    <a:pt x="22017610" y="114173"/>
                  </a:cubicBezTo>
                  <a:lnTo>
                    <a:pt x="22017610" y="837565"/>
                  </a:lnTo>
                  <a:cubicBezTo>
                    <a:pt x="22017610" y="900684"/>
                    <a:pt x="21966428" y="951738"/>
                    <a:pt x="21903437" y="951738"/>
                  </a:cubicBezTo>
                  <a:lnTo>
                    <a:pt x="114173" y="951738"/>
                  </a:lnTo>
                  <a:cubicBezTo>
                    <a:pt x="51181" y="951738"/>
                    <a:pt x="0" y="900557"/>
                    <a:pt x="0" y="837565"/>
                  </a:cubicBezTo>
                  <a:close/>
                </a:path>
              </a:pathLst>
            </a:custGeom>
            <a:solidFill>
              <a:srgbClr val="152E4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16771" y="9228925"/>
            <a:ext cx="15854448" cy="420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F1F8FA"/>
                </a:solidFill>
                <a:latin typeface="Lato"/>
                <a:ea typeface="Lato"/>
                <a:cs typeface="Lato"/>
                <a:sym typeface="Lato"/>
              </a:rPr>
              <a:t>Chụp màn hình từ môi trường Windows/Gradio của nhóm, không phải mockup thiết kế.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057604" y="1625417"/>
            <a:ext cx="14376350" cy="7141433"/>
            <a:chOff x="0" y="0"/>
            <a:chExt cx="19168466" cy="9521911"/>
          </a:xfrm>
        </p:grpSpPr>
        <p:sp>
          <p:nvSpPr>
            <p:cNvPr name="Freeform 12" id="12" descr="04_UI_Nguon_du_lieu.png"/>
            <p:cNvSpPr/>
            <p:nvPr/>
          </p:nvSpPr>
          <p:spPr>
            <a:xfrm flipH="false" flipV="false" rot="0">
              <a:off x="0" y="0"/>
              <a:ext cx="19168517" cy="9521937"/>
            </a:xfrm>
            <a:custGeom>
              <a:avLst/>
              <a:gdLst/>
              <a:ahLst/>
              <a:cxnLst/>
              <a:rect r="r" b="b" t="t" l="l"/>
              <a:pathLst>
                <a:path h="9521937" w="19168517">
                  <a:moveTo>
                    <a:pt x="0" y="0"/>
                  </a:moveTo>
                  <a:lnTo>
                    <a:pt x="19168517" y="0"/>
                  </a:lnTo>
                  <a:lnTo>
                    <a:pt x="19168517" y="9521937"/>
                  </a:lnTo>
                  <a:lnTo>
                    <a:pt x="0" y="9521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881" t="0" r="-1880" b="0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1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3421" y="864784"/>
            <a:ext cx="16430892" cy="8112490"/>
            <a:chOff x="0" y="0"/>
            <a:chExt cx="21907856" cy="108166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07753" cy="10816590"/>
            </a:xfrm>
            <a:custGeom>
              <a:avLst/>
              <a:gdLst/>
              <a:ahLst/>
              <a:cxnLst/>
              <a:rect r="r" b="b" t="t" l="l"/>
              <a:pathLst>
                <a:path h="10816590" w="21907753">
                  <a:moveTo>
                    <a:pt x="0" y="1297940"/>
                  </a:moveTo>
                  <a:cubicBezTo>
                    <a:pt x="0" y="581152"/>
                    <a:pt x="581152" y="0"/>
                    <a:pt x="1297940" y="0"/>
                  </a:cubicBezTo>
                  <a:lnTo>
                    <a:pt x="20609813" y="0"/>
                  </a:lnTo>
                  <a:cubicBezTo>
                    <a:pt x="21326728" y="0"/>
                    <a:pt x="21907753" y="581152"/>
                    <a:pt x="21907753" y="1297940"/>
                  </a:cubicBezTo>
                  <a:lnTo>
                    <a:pt x="21907753" y="9518650"/>
                  </a:lnTo>
                  <a:cubicBezTo>
                    <a:pt x="21907753" y="10235565"/>
                    <a:pt x="21326602" y="10816590"/>
                    <a:pt x="20609813" y="10816590"/>
                  </a:cubicBezTo>
                  <a:lnTo>
                    <a:pt x="1297940" y="10816590"/>
                  </a:lnTo>
                  <a:cubicBezTo>
                    <a:pt x="581152" y="10816717"/>
                    <a:pt x="0" y="10235565"/>
                    <a:pt x="0" y="9518650"/>
                  </a:cubicBezTo>
                  <a:close/>
                </a:path>
              </a:pathLst>
            </a:custGeom>
            <a:solidFill>
              <a:srgbClr val="AED3D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92256" y="1537011"/>
            <a:ext cx="1361699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385C66"/>
                </a:solidFill>
                <a:latin typeface="Lato Bold"/>
                <a:ea typeface="Lato Bold"/>
                <a:cs typeface="Lato Bold"/>
                <a:sym typeface="Lato Bold"/>
              </a:rPr>
              <a:t>THANK YOU / Q&amp;A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2256" y="3123216"/>
            <a:ext cx="1402880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b="true" sz="72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ATLAS INSIGHT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92256" y="5411054"/>
            <a:ext cx="1361699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B4A4F"/>
                </a:solidFill>
                <a:latin typeface="Lato"/>
                <a:ea typeface="Lato"/>
                <a:cs typeface="Lato"/>
                <a:sym typeface="Lato"/>
              </a:rPr>
              <a:t>Stage 1: nguồn - concat/merge - storage - EDA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2256" y="6343683"/>
            <a:ext cx="13616997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1B4A4F"/>
                </a:solidFill>
                <a:latin typeface="Lato"/>
                <a:ea typeface="Lato"/>
                <a:cs typeface="Lato"/>
                <a:sym typeface="Lato"/>
              </a:rPr>
              <a:t>Stage 2: PCA - K-Means - Regression - Classification -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DAHXs7DLoPQ</dc:identifier>
  <dcterms:modified xsi:type="dcterms:W3CDTF">2011-08-01T06:04:30Z</dcterms:modified>
  <cp:revision>1</cp:revision>
  <dc:title>Slides_Final_Project.pptx</dc:title>
</cp:coreProperties>
</file>